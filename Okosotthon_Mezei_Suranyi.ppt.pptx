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>
      <p:cViewPr varScale="1">
        <p:scale>
          <a:sx n="162" d="100"/>
          <a:sy n="162" d="100"/>
        </p:scale>
        <p:origin x="10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 smtClean="0"/>
              <a:t>Kattintson ide az alcím mintájának szerkesztéséhez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1C864-ECCA-462D-B7AB-F2A7DFB10D08}" type="datetimeFigureOut">
              <a:rPr lang="hu-HU" smtClean="0"/>
              <a:t>2026. 09. 07.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1DA75-025B-4A2C-BFAC-7B7A8530807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73662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1C864-ECCA-462D-B7AB-F2A7DFB10D08}" type="datetimeFigureOut">
              <a:rPr lang="hu-HU" smtClean="0"/>
              <a:t>2026. 09. 07.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1DA75-025B-4A2C-BFAC-7B7A8530807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69535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1C864-ECCA-462D-B7AB-F2A7DFB10D08}" type="datetimeFigureOut">
              <a:rPr lang="hu-HU" smtClean="0"/>
              <a:t>2026. 09. 07.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1DA75-025B-4A2C-BFAC-7B7A8530807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08190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1C864-ECCA-462D-B7AB-F2A7DFB10D08}" type="datetimeFigureOut">
              <a:rPr lang="hu-HU" smtClean="0"/>
              <a:t>2026. 09. 07.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1DA75-025B-4A2C-BFAC-7B7A8530807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627226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1C864-ECCA-462D-B7AB-F2A7DFB10D08}" type="datetimeFigureOut">
              <a:rPr lang="hu-HU" smtClean="0"/>
              <a:t>2026. 09. 07.</a:t>
            </a:fld>
            <a:endParaRPr lang="hu-HU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1DA75-025B-4A2C-BFAC-7B7A8530807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93311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1C864-ECCA-462D-B7AB-F2A7DFB10D08}" type="datetimeFigureOut">
              <a:rPr lang="hu-HU" smtClean="0"/>
              <a:t>2026. 09. 07.</a:t>
            </a:fld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1DA75-025B-4A2C-BFAC-7B7A8530807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865891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1C864-ECCA-462D-B7AB-F2A7DFB10D08}" type="datetimeFigureOut">
              <a:rPr lang="hu-HU" smtClean="0"/>
              <a:t>2026. 09. 07.</a:t>
            </a:fld>
            <a:endParaRPr lang="hu-HU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1DA75-025B-4A2C-BFAC-7B7A8530807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67870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1C864-ECCA-462D-B7AB-F2A7DFB10D08}" type="datetimeFigureOut">
              <a:rPr lang="hu-HU" smtClean="0"/>
              <a:t>2026. 09. 07.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1DA75-025B-4A2C-BFAC-7B7A8530807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710112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1C864-ECCA-462D-B7AB-F2A7DFB10D08}" type="datetimeFigureOut">
              <a:rPr lang="hu-HU" smtClean="0"/>
              <a:t>2026. 09. 07.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1DA75-025B-4A2C-BFAC-7B7A8530807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56066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1C864-ECCA-462D-B7AB-F2A7DFB10D08}" type="datetimeFigureOut">
              <a:rPr lang="hu-HU" smtClean="0"/>
              <a:t>2026. 09. 07.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1DA75-025B-4A2C-BFAC-7B7A8530807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39048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1C864-ECCA-462D-B7AB-F2A7DFB10D08}" type="datetimeFigureOut">
              <a:rPr lang="hu-HU" smtClean="0"/>
              <a:t>2026. 09. 07.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1DA75-025B-4A2C-BFAC-7B7A8530807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13708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A1C864-ECCA-462D-B7AB-F2A7DFB10D08}" type="datetimeFigureOut">
              <a:rPr lang="hu-HU" smtClean="0"/>
              <a:t>2026. 09. 07.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B1DA75-025B-4A2C-BFAC-7B7A8530807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19959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9000"/>
            <a:lum/>
          </a:blip>
          <a:srcRect/>
          <a:stretch>
            <a:fillRect l="-58000" t="-1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hu-HU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/>
            </a:r>
            <a:br>
              <a:rPr lang="hu-HU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hu-HU" b="1" dirty="0">
                <a:solidFill>
                  <a:schemeClr val="bg1"/>
                </a:solidFill>
                <a:latin typeface="Arial Black" panose="020B0A04020102020204" pitchFamily="34" charset="0"/>
              </a:rPr>
              <a:t/>
            </a:r>
            <a:br>
              <a:rPr lang="hu-HU" b="1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hu-HU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/>
            </a:r>
            <a:br>
              <a:rPr lang="hu-HU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hu-HU" b="1" dirty="0"/>
              <a:t/>
            </a:r>
            <a:br>
              <a:rPr lang="hu-HU" b="1" dirty="0"/>
            </a:br>
            <a:r>
              <a:rPr lang="hu-HU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Okosotthon kiépítése</a:t>
            </a:r>
            <a:br>
              <a:rPr lang="hu-HU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hu-HU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   </a:t>
            </a:r>
            <a:r>
              <a:rPr lang="hu-HU" b="1" dirty="0" err="1" smtClean="0">
                <a:solidFill>
                  <a:schemeClr val="bg1"/>
                </a:solidFill>
                <a:latin typeface="Arial Black" panose="020B0A04020102020204" pitchFamily="34" charset="0"/>
              </a:rPr>
              <a:t>paket</a:t>
            </a:r>
            <a:r>
              <a:rPr lang="hu-HU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hu-HU" b="1" dirty="0" err="1" smtClean="0">
                <a:solidFill>
                  <a:schemeClr val="bg1"/>
                </a:solidFill>
                <a:latin typeface="Arial Black" panose="020B0A04020102020204" pitchFamily="34" charset="0"/>
              </a:rPr>
              <a:t>tracer</a:t>
            </a:r>
            <a:r>
              <a:rPr lang="hu-HU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 szimulációval</a:t>
            </a:r>
            <a:endParaRPr lang="hu-HU" b="1" dirty="0"/>
          </a:p>
        </p:txBody>
      </p:sp>
      <p:sp>
        <p:nvSpPr>
          <p:cNvPr id="4" name="Szövegdoboz 3"/>
          <p:cNvSpPr txBox="1"/>
          <p:nvPr/>
        </p:nvSpPr>
        <p:spPr>
          <a:xfrm>
            <a:off x="8547482" y="5227385"/>
            <a:ext cx="25155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smtClean="0">
                <a:solidFill>
                  <a:schemeClr val="bg1"/>
                </a:solidFill>
              </a:rPr>
              <a:t>Mezei Lajos</a:t>
            </a:r>
          </a:p>
          <a:p>
            <a:r>
              <a:rPr lang="hu-HU" dirty="0" smtClean="0">
                <a:solidFill>
                  <a:schemeClr val="bg1"/>
                </a:solidFill>
              </a:rPr>
              <a:t>Surányi Gergő</a:t>
            </a:r>
            <a:endParaRPr lang="hu-H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7654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9000"/>
            <a:lum/>
          </a:blip>
          <a:srcRect/>
          <a:stretch>
            <a:fillRect l="-58000" t="-1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hu-HU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/>
            </a:r>
            <a:br>
              <a:rPr lang="hu-HU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hu-HU" b="1" dirty="0">
                <a:solidFill>
                  <a:schemeClr val="bg1"/>
                </a:solidFill>
                <a:latin typeface="Arial Black" panose="020B0A04020102020204" pitchFamily="34" charset="0"/>
              </a:rPr>
              <a:t/>
            </a:r>
            <a:br>
              <a:rPr lang="hu-HU" b="1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hu-HU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/>
            </a:r>
            <a:br>
              <a:rPr lang="hu-HU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hu-HU" b="1" dirty="0"/>
              <a:t/>
            </a:r>
            <a:br>
              <a:rPr lang="hu-HU" b="1" dirty="0"/>
            </a:br>
            <a:endParaRPr lang="hu-HU" b="1" dirty="0"/>
          </a:p>
        </p:txBody>
      </p:sp>
      <p:sp>
        <p:nvSpPr>
          <p:cNvPr id="3" name="Szövegdoboz 2"/>
          <p:cNvSpPr txBox="1"/>
          <p:nvPr/>
        </p:nvSpPr>
        <p:spPr>
          <a:xfrm>
            <a:off x="780971" y="290410"/>
            <a:ext cx="10309564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hu-HU" dirty="0" smtClean="0"/>
          </a:p>
          <a:p>
            <a:endParaRPr lang="hu-HU" dirty="0" smtClean="0">
              <a:solidFill>
                <a:schemeClr val="bg1"/>
              </a:solidFill>
            </a:endParaRPr>
          </a:p>
          <a:p>
            <a:r>
              <a:rPr lang="hu-HU" dirty="0" smtClean="0">
                <a:solidFill>
                  <a:schemeClr val="bg1"/>
                </a:solidFill>
              </a:rPr>
              <a:t>Az </a:t>
            </a:r>
            <a:r>
              <a:rPr lang="hu-HU" b="1" dirty="0">
                <a:solidFill>
                  <a:schemeClr val="bg1"/>
                </a:solidFill>
              </a:rPr>
              <a:t>okosotthon</a:t>
            </a:r>
            <a:r>
              <a:rPr lang="hu-HU" dirty="0">
                <a:solidFill>
                  <a:schemeClr val="bg1"/>
                </a:solidFill>
              </a:rPr>
              <a:t> egy komplex, digitálisan vezérelt lakókörnyezet, amelyben az eszközök nemcsak külön-külön működnek, hanem egymással összehangolt rendszert alkotnak. Lényege, hogy a ház „intelligensen” reagál a benne élők igényeire, és sok feladatot automatikusan elvégez.</a:t>
            </a:r>
          </a:p>
          <a:p>
            <a:endParaRPr lang="hu-HU" dirty="0" smtClean="0">
              <a:solidFill>
                <a:schemeClr val="bg1"/>
              </a:solidFill>
            </a:endParaRPr>
          </a:p>
          <a:p>
            <a:endParaRPr lang="hu-HU" dirty="0" smtClean="0">
              <a:solidFill>
                <a:schemeClr val="bg1"/>
              </a:solidFill>
            </a:endParaRPr>
          </a:p>
          <a:p>
            <a:r>
              <a:rPr lang="hu-HU" dirty="0" smtClean="0">
                <a:solidFill>
                  <a:schemeClr val="bg1"/>
                </a:solidFill>
              </a:rPr>
              <a:t>Működési alapelve:</a:t>
            </a:r>
          </a:p>
          <a:p>
            <a:endParaRPr lang="hu-HU" dirty="0">
              <a:solidFill>
                <a:schemeClr val="bg1"/>
              </a:solidFill>
            </a:endParaRPr>
          </a:p>
          <a:p>
            <a:r>
              <a:rPr lang="hu-HU" dirty="0" smtClean="0">
                <a:solidFill>
                  <a:schemeClr val="bg1"/>
                </a:solidFill>
              </a:rPr>
              <a:t>Az </a:t>
            </a:r>
            <a:r>
              <a:rPr lang="hu-HU" dirty="0">
                <a:solidFill>
                  <a:schemeClr val="bg1"/>
                </a:solidFill>
              </a:rPr>
              <a:t>okosotthon központi eleme egy vezérlőrendszer, amely összekapcsolja az eszközöket. Ezek az eszközök szenzorok (pl. hőmérséklet-, fény-, mozgásérzékelők) és végrehajtó egységek (pl. lámpák, termosztátok, zárak). Az adatok folyamatosan áramlanak közöttük, így a rendszer képes döntéseket hozni</a:t>
            </a:r>
            <a:r>
              <a:rPr lang="hu-HU" dirty="0" smtClean="0">
                <a:solidFill>
                  <a:schemeClr val="bg1"/>
                </a:solidFill>
              </a:rPr>
              <a:t>.</a:t>
            </a:r>
          </a:p>
          <a:p>
            <a:endParaRPr lang="hu-HU" dirty="0" smtClean="0">
              <a:solidFill>
                <a:schemeClr val="bg1"/>
              </a:solidFill>
            </a:endParaRPr>
          </a:p>
          <a:p>
            <a:endParaRPr lang="hu-HU" dirty="0">
              <a:solidFill>
                <a:schemeClr val="bg1"/>
              </a:solidFill>
            </a:endParaRPr>
          </a:p>
          <a:p>
            <a:r>
              <a:rPr lang="hu-HU" dirty="0">
                <a:solidFill>
                  <a:schemeClr val="bg1"/>
                </a:solidFill>
              </a:rPr>
              <a:t>Főbb rendszerek az </a:t>
            </a:r>
            <a:r>
              <a:rPr lang="hu-HU" dirty="0" smtClean="0">
                <a:solidFill>
                  <a:schemeClr val="bg1"/>
                </a:solidFill>
              </a:rPr>
              <a:t>okosotthonban:</a:t>
            </a:r>
          </a:p>
          <a:p>
            <a:endParaRPr lang="hu-HU" dirty="0" smtClean="0">
              <a:solidFill>
                <a:schemeClr val="bg1"/>
              </a:solidFill>
            </a:endParaRPr>
          </a:p>
          <a:p>
            <a:r>
              <a:rPr lang="hu-HU" b="1" dirty="0">
                <a:solidFill>
                  <a:schemeClr val="bg1"/>
                </a:solidFill>
              </a:rPr>
              <a:t>	</a:t>
            </a:r>
            <a:r>
              <a:rPr lang="hu-HU" b="1" dirty="0" smtClean="0">
                <a:solidFill>
                  <a:schemeClr val="bg1"/>
                </a:solidFill>
              </a:rPr>
              <a:t>			- Világításvezérlés</a:t>
            </a:r>
          </a:p>
          <a:p>
            <a:r>
              <a:rPr lang="hu-HU" b="1" dirty="0">
                <a:solidFill>
                  <a:schemeClr val="bg1"/>
                </a:solidFill>
              </a:rPr>
              <a:t>	</a:t>
            </a:r>
            <a:r>
              <a:rPr lang="hu-HU" b="1" dirty="0" smtClean="0">
                <a:solidFill>
                  <a:schemeClr val="bg1"/>
                </a:solidFill>
              </a:rPr>
              <a:t>			- </a:t>
            </a:r>
            <a:r>
              <a:rPr lang="hu-HU" b="1" dirty="0">
                <a:solidFill>
                  <a:schemeClr val="bg1"/>
                </a:solidFill>
              </a:rPr>
              <a:t>Fűtés és klíma </a:t>
            </a:r>
            <a:endParaRPr lang="hu-HU" b="1" dirty="0" smtClean="0">
              <a:solidFill>
                <a:schemeClr val="bg1"/>
              </a:solidFill>
            </a:endParaRPr>
          </a:p>
          <a:p>
            <a:r>
              <a:rPr lang="hu-HU" b="1" dirty="0">
                <a:solidFill>
                  <a:schemeClr val="bg1"/>
                </a:solidFill>
              </a:rPr>
              <a:t>	</a:t>
            </a:r>
            <a:r>
              <a:rPr lang="hu-HU" b="1" dirty="0" smtClean="0">
                <a:solidFill>
                  <a:schemeClr val="bg1"/>
                </a:solidFill>
              </a:rPr>
              <a:t>			-Biztonságtechnika</a:t>
            </a:r>
          </a:p>
          <a:p>
            <a:r>
              <a:rPr lang="hu-HU" b="1" dirty="0">
                <a:solidFill>
                  <a:schemeClr val="bg1"/>
                </a:solidFill>
              </a:rPr>
              <a:t>	</a:t>
            </a:r>
            <a:r>
              <a:rPr lang="hu-HU" b="1" dirty="0" smtClean="0">
                <a:solidFill>
                  <a:schemeClr val="bg1"/>
                </a:solidFill>
              </a:rPr>
              <a:t>			- </a:t>
            </a:r>
            <a:r>
              <a:rPr lang="hu-HU" b="1" dirty="0">
                <a:solidFill>
                  <a:schemeClr val="bg1"/>
                </a:solidFill>
              </a:rPr>
              <a:t>Háztartási </a:t>
            </a:r>
            <a:r>
              <a:rPr lang="hu-HU" b="1" dirty="0" smtClean="0">
                <a:solidFill>
                  <a:schemeClr val="bg1"/>
                </a:solidFill>
              </a:rPr>
              <a:t>gépek</a:t>
            </a:r>
          </a:p>
          <a:p>
            <a:r>
              <a:rPr lang="hu-HU" b="1" dirty="0">
                <a:solidFill>
                  <a:schemeClr val="bg1"/>
                </a:solidFill>
              </a:rPr>
              <a:t>	</a:t>
            </a:r>
            <a:r>
              <a:rPr lang="hu-HU" b="1" dirty="0" smtClean="0">
                <a:solidFill>
                  <a:schemeClr val="bg1"/>
                </a:solidFill>
              </a:rPr>
              <a:t>			- </a:t>
            </a:r>
            <a:r>
              <a:rPr lang="hu-HU" b="1" dirty="0">
                <a:solidFill>
                  <a:schemeClr val="bg1"/>
                </a:solidFill>
              </a:rPr>
              <a:t>Szórakoztató rendszerek</a:t>
            </a:r>
            <a:r>
              <a:rPr lang="hu-HU" dirty="0"/>
              <a:t/>
            </a:r>
            <a:br>
              <a:rPr lang="hu-HU" dirty="0"/>
            </a:br>
            <a:endParaRPr lang="hu-HU" dirty="0"/>
          </a:p>
          <a:p>
            <a:endParaRPr lang="hu-HU" b="1" dirty="0" smtClean="0"/>
          </a:p>
          <a:p>
            <a:endParaRPr lang="hu-HU" b="1" dirty="0" smtClean="0"/>
          </a:p>
          <a:p>
            <a:pPr marL="285750" indent="-285750">
              <a:buFontTx/>
              <a:buChar char="-"/>
            </a:pPr>
            <a:endParaRPr lang="hu-HU" dirty="0"/>
          </a:p>
          <a:p>
            <a:endParaRPr lang="hu-H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3718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9000"/>
            <a:lum/>
          </a:blip>
          <a:srcRect/>
          <a:stretch>
            <a:fillRect l="-58000" t="-1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hu-HU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/>
            </a:r>
            <a:br>
              <a:rPr lang="hu-HU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hu-HU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/>
            </a:r>
            <a:br>
              <a:rPr lang="hu-HU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hu-HU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/>
            </a:r>
            <a:br>
              <a:rPr lang="hu-HU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hu-HU" b="1" dirty="0" smtClean="0"/>
              <a:t/>
            </a:r>
            <a:br>
              <a:rPr lang="hu-HU" b="1" dirty="0" smtClean="0"/>
            </a:br>
            <a:endParaRPr lang="hu-HU" b="1" dirty="0"/>
          </a:p>
        </p:txBody>
      </p:sp>
      <p:sp>
        <p:nvSpPr>
          <p:cNvPr id="3" name="Szövegdoboz 2"/>
          <p:cNvSpPr txBox="1"/>
          <p:nvPr/>
        </p:nvSpPr>
        <p:spPr>
          <a:xfrm>
            <a:off x="3940160" y="567541"/>
            <a:ext cx="65970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Hálózati Topológia</a:t>
            </a:r>
            <a:endParaRPr lang="hu-HU" sz="28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Szövegdoboz 8"/>
          <p:cNvSpPr txBox="1"/>
          <p:nvPr/>
        </p:nvSpPr>
        <p:spPr>
          <a:xfrm>
            <a:off x="3449603" y="1708787"/>
            <a:ext cx="692667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indent="135096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altLang="hu-HU" dirty="0" smtClean="0">
                <a:solidFill>
                  <a:schemeClr val="bg1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INTERNET</a:t>
            </a:r>
            <a: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/>
            </a:r>
            <a:b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                        |</a:t>
            </a:r>
            <a:b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                   [ ISP CLOUD ]</a:t>
            </a:r>
            <a:b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                        |</a:t>
            </a:r>
            <a:b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                 [ Cisco </a:t>
            </a:r>
            <a:r>
              <a:rPr lang="hu-HU" altLang="hu-HU" dirty="0" err="1">
                <a:solidFill>
                  <a:schemeClr val="bg1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Router</a:t>
            </a:r>
            <a: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 ]</a:t>
            </a:r>
            <a:b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                        |</a:t>
            </a:r>
            <a:b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                 [ </a:t>
            </a:r>
            <a:r>
              <a:rPr lang="hu-HU" altLang="hu-HU" dirty="0" smtClean="0">
                <a:solidFill>
                  <a:schemeClr val="bg1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SWITCH ]</a:t>
            </a:r>
            <a:b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        __________________|__________________</a:t>
            </a:r>
            <a:b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       |          |          |          |</a:t>
            </a:r>
            <a:b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   VLAN10     VLAN20    VLAN30     VLAN40</a:t>
            </a:r>
            <a:b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    ADMIN      USERS       IOT      CCTV</a:t>
            </a:r>
            <a:b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       |          |          |          |</a:t>
            </a:r>
            <a:b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    SERVER     WIFI AP    HOME GW    CAMERAS</a:t>
            </a:r>
            <a:r>
              <a:rPr kumimoji="0" lang="hu-HU" altLang="hu-HU" sz="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endParaRPr kumimoji="0" lang="hu-HU" altLang="hu-HU" sz="40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999672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9000"/>
            <a:lum/>
          </a:blip>
          <a:srcRect/>
          <a:stretch>
            <a:fillRect l="-58000" t="-1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hu-HU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/>
            </a:r>
            <a:br>
              <a:rPr lang="hu-HU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hu-HU" b="1" dirty="0">
                <a:solidFill>
                  <a:schemeClr val="bg1"/>
                </a:solidFill>
                <a:latin typeface="Arial Black" panose="020B0A04020102020204" pitchFamily="34" charset="0"/>
              </a:rPr>
              <a:t/>
            </a:r>
            <a:br>
              <a:rPr lang="hu-HU" b="1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hu-HU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/>
            </a:r>
            <a:br>
              <a:rPr lang="hu-HU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hu-HU" b="1" dirty="0"/>
              <a:t/>
            </a:r>
            <a:br>
              <a:rPr lang="hu-HU" b="1" dirty="0"/>
            </a:br>
            <a:endParaRPr lang="hu-HU" b="1" dirty="0"/>
          </a:p>
        </p:txBody>
      </p:sp>
      <p:sp>
        <p:nvSpPr>
          <p:cNvPr id="4" name="Téglalap 3"/>
          <p:cNvSpPr/>
          <p:nvPr/>
        </p:nvSpPr>
        <p:spPr>
          <a:xfrm>
            <a:off x="2642077" y="372339"/>
            <a:ext cx="6096000" cy="6063198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hu-HU" altLang="hu-HU" sz="2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Fizikai elrendezés</a:t>
            </a:r>
            <a:endParaRPr kumimoji="0" lang="hu-HU" altLang="hu-HU" sz="44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 Black" panose="020B0A040201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altLang="hu-HU" dirty="0">
                <a:solidFill>
                  <a:schemeClr val="bg1"/>
                </a:solidFill>
                <a:latin typeface="Arial Black" panose="020B0A04020102020204" pitchFamily="34" charset="0"/>
                <a:ea typeface="Times New Roman" panose="02020603050405020304" pitchFamily="18" charset="0"/>
                <a:cs typeface="Courier New" panose="02070309020205020404" pitchFamily="49" charset="0"/>
              </a:rPr>
              <a:t/>
            </a:r>
            <a:br>
              <a:rPr lang="hu-HU" altLang="hu-HU" dirty="0">
                <a:solidFill>
                  <a:schemeClr val="bg1"/>
                </a:solidFill>
                <a:latin typeface="Arial Black" panose="020B0A04020102020204" pitchFamily="34" charset="0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--------------------KERT-------------------------                         </a:t>
            </a:r>
            <a:b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</a:br>
            <a: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                                               </a:t>
            </a:r>
            <a:b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</a:br>
            <a: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 [Camera]      [</a:t>
            </a:r>
            <a:r>
              <a:rPr lang="hu-HU" altLang="hu-HU" dirty="0" err="1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Garden</a:t>
            </a:r>
            <a: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hu-HU" altLang="hu-HU" dirty="0" err="1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Lights</a:t>
            </a:r>
            <a: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]     [</a:t>
            </a:r>
            <a:r>
              <a:rPr lang="hu-HU" altLang="hu-HU" dirty="0" err="1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Sprinkler</a:t>
            </a:r>
            <a: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] </a:t>
            </a:r>
            <a:b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</a:br>
            <a: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                                               </a:t>
            </a:r>
            <a:b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</a:br>
            <a: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-------------------GARÁZS------------------------</a:t>
            </a:r>
            <a:b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</a:br>
            <a: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                                               </a:t>
            </a:r>
            <a:b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</a:br>
            <a: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[</a:t>
            </a:r>
            <a:r>
              <a:rPr lang="hu-HU" altLang="hu-HU" dirty="0" err="1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Garage</a:t>
            </a:r>
            <a: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hu-HU" altLang="hu-HU" dirty="0" err="1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Door</a:t>
            </a:r>
            <a: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]         [EV </a:t>
            </a:r>
            <a:r>
              <a:rPr lang="hu-HU" altLang="hu-HU" dirty="0" err="1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Charger</a:t>
            </a:r>
            <a: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]              </a:t>
            </a:r>
            <a:b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</a:br>
            <a: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                                               </a:t>
            </a:r>
            <a:b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</a:br>
            <a:r>
              <a:rPr lang="hu-HU" altLang="hu-HU" dirty="0" smtClean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----------------------</a:t>
            </a:r>
            <a: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HÁZ-</a:t>
            </a:r>
            <a:r>
              <a:rPr lang="hu-HU" altLang="hu-HU" dirty="0" smtClean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---------------------------</a:t>
            </a:r>
            <a: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/>
            </a:r>
            <a:b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</a:br>
            <a: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                                               </a:t>
            </a:r>
            <a:b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</a:br>
            <a: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NAPPALI        KONYHA         HÁLÓ              </a:t>
            </a:r>
            <a:b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</a:br>
            <a: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hu-HU" altLang="hu-HU" dirty="0" err="1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Smart</a:t>
            </a:r>
            <a: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TV       </a:t>
            </a:r>
            <a:r>
              <a:rPr lang="hu-HU" altLang="hu-HU" dirty="0" err="1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Sensors</a:t>
            </a:r>
            <a: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      </a:t>
            </a:r>
            <a:r>
              <a:rPr lang="hu-HU" altLang="hu-HU" dirty="0" err="1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Thermostat</a:t>
            </a:r>
            <a: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      </a:t>
            </a:r>
            <a:b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</a:br>
            <a: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hu-HU" altLang="hu-HU" dirty="0" smtClean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   </a:t>
            </a:r>
            <a:r>
              <a:rPr lang="hu-HU" altLang="hu-HU" dirty="0" err="1" smtClean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Lights</a:t>
            </a:r>
            <a:r>
              <a:rPr lang="hu-HU" altLang="hu-HU" dirty="0" smtClean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          </a:t>
            </a:r>
            <a:r>
              <a:rPr lang="hu-HU" altLang="hu-HU" dirty="0" err="1" smtClean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Smart</a:t>
            </a:r>
            <a:r>
              <a:rPr lang="hu-HU" altLang="hu-HU" dirty="0" smtClean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hu-HU" altLang="hu-HU" dirty="0" err="1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Door</a:t>
            </a:r>
            <a: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</a:t>
            </a:r>
            <a:r>
              <a:rPr lang="hu-HU" altLang="hu-HU" dirty="0" smtClean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hu-HU" altLang="hu-HU" dirty="0" err="1" smtClean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Smart</a:t>
            </a:r>
            <a:r>
              <a:rPr lang="hu-HU" altLang="hu-HU" dirty="0" smtClean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hu-HU" altLang="hu-HU" dirty="0" err="1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Window</a:t>
            </a:r>
            <a: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    </a:t>
            </a:r>
            <a:b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</a:br>
            <a: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hu-HU" altLang="hu-HU" dirty="0" smtClean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   </a:t>
            </a:r>
            <a:r>
              <a:rPr lang="hu-HU" altLang="hu-HU" dirty="0" err="1" smtClean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Motion</a:t>
            </a:r>
            <a:r>
              <a:rPr lang="hu-HU" altLang="hu-HU" dirty="0" smtClean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szenzor   </a:t>
            </a:r>
            <a:endParaRPr lang="hu-HU" altLang="hu-HU" dirty="0" smtClean="0">
              <a:solidFill>
                <a:schemeClr val="bg1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altLang="hu-HU" dirty="0" smtClean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                             </a:t>
            </a:r>
            <a: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/>
            </a:r>
            <a:b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</a:br>
            <a: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-----------------SERVER ROOM-</a:t>
            </a:r>
            <a:r>
              <a:rPr lang="hu-HU" altLang="hu-HU" dirty="0" smtClean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--------------------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/>
            </a:r>
            <a:b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</a:br>
            <a: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hu-HU" altLang="hu-HU" dirty="0" err="1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Router</a:t>
            </a:r>
            <a: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   </a:t>
            </a:r>
            <a:r>
              <a:rPr lang="hu-HU" altLang="hu-HU" dirty="0" err="1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Switch</a:t>
            </a:r>
            <a: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   NAS     UPS               </a:t>
            </a:r>
            <a:r>
              <a:rPr lang="hu-HU" altLang="hu-HU" dirty="0">
                <a:solidFill>
                  <a:srgbClr val="000000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/>
            </a:r>
            <a:br>
              <a:rPr lang="hu-HU" altLang="hu-HU" dirty="0">
                <a:solidFill>
                  <a:srgbClr val="000000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hu-HU" altLang="hu-HU" dirty="0">
                <a:solidFill>
                  <a:srgbClr val="000000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endParaRPr kumimoji="0" lang="hu-HU" altLang="hu-HU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7153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9000"/>
            <a:lum/>
          </a:blip>
          <a:srcRect/>
          <a:stretch>
            <a:fillRect l="-58000" t="-1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hu-HU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/>
            </a:r>
            <a:br>
              <a:rPr lang="hu-HU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hu-HU" b="1" dirty="0">
                <a:solidFill>
                  <a:schemeClr val="bg1"/>
                </a:solidFill>
                <a:latin typeface="Arial Black" panose="020B0A04020102020204" pitchFamily="34" charset="0"/>
              </a:rPr>
              <a:t/>
            </a:r>
            <a:br>
              <a:rPr lang="hu-HU" b="1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hu-HU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/>
            </a:r>
            <a:br>
              <a:rPr lang="hu-HU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hu-HU" b="1" dirty="0"/>
              <a:t/>
            </a:r>
            <a:br>
              <a:rPr lang="hu-HU" b="1" dirty="0"/>
            </a:br>
            <a:endParaRPr lang="hu-HU" b="1" dirty="0"/>
          </a:p>
        </p:txBody>
      </p:sp>
      <p:sp>
        <p:nvSpPr>
          <p:cNvPr id="3" name="Szövegdoboz 2"/>
          <p:cNvSpPr txBox="1"/>
          <p:nvPr/>
        </p:nvSpPr>
        <p:spPr>
          <a:xfrm>
            <a:off x="2951196" y="2413545"/>
            <a:ext cx="65437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40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Köszönöm a figyelmet!</a:t>
            </a:r>
            <a:endParaRPr lang="hu-HU" sz="40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9020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316</Words>
  <Application>Microsoft Office PowerPoint</Application>
  <PresentationFormat>Szélesvásznú</PresentationFormat>
  <Paragraphs>33</Paragraphs>
  <Slides>5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7</vt:i4>
      </vt:variant>
      <vt:variant>
        <vt:lpstr>Téma</vt:lpstr>
      </vt:variant>
      <vt:variant>
        <vt:i4>1</vt:i4>
      </vt:variant>
      <vt:variant>
        <vt:lpstr>Diacímek</vt:lpstr>
      </vt:variant>
      <vt:variant>
        <vt:i4>5</vt:i4>
      </vt:variant>
    </vt:vector>
  </HeadingPairs>
  <TitlesOfParts>
    <vt:vector size="13" baseType="lpstr">
      <vt:lpstr>Arial Unicode MS</vt:lpstr>
      <vt:lpstr>Arial</vt:lpstr>
      <vt:lpstr>Arial Black</vt:lpstr>
      <vt:lpstr>Calibri</vt:lpstr>
      <vt:lpstr>Calibri Light</vt:lpstr>
      <vt:lpstr>Courier New</vt:lpstr>
      <vt:lpstr>Times New Roman</vt:lpstr>
      <vt:lpstr>Office-téma</vt:lpstr>
      <vt:lpstr>    Okosotthon kiépítése    paket tracer szimulációval</vt:lpstr>
      <vt:lpstr>    </vt:lpstr>
      <vt:lpstr>    </vt:lpstr>
      <vt:lpstr>    </vt:lpstr>
      <vt:lpstr> 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Okosotthon kiépítése    paket tracer szimulációval</dc:title>
  <dc:creator>Mezei Lajos</dc:creator>
  <cp:lastModifiedBy>Mezei Lajos</cp:lastModifiedBy>
  <cp:revision>5</cp:revision>
  <dcterms:created xsi:type="dcterms:W3CDTF">2026-09-07T05:45:55Z</dcterms:created>
  <dcterms:modified xsi:type="dcterms:W3CDTF">2026-09-07T06:16:39Z</dcterms:modified>
</cp:coreProperties>
</file>