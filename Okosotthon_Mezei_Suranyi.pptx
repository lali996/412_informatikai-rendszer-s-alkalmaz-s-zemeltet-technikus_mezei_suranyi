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60" r:id="rId4"/>
    <p:sldId id="261" r:id="rId5"/>
    <p:sldId id="262" r:id="rId6"/>
    <p:sldId id="263" r:id="rId7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06" autoAdjust="0"/>
    <p:restoredTop sz="94660"/>
  </p:normalViewPr>
  <p:slideViewPr>
    <p:cSldViewPr snapToGrid="0">
      <p:cViewPr varScale="1">
        <p:scale>
          <a:sx n="94" d="100"/>
          <a:sy n="94" d="100"/>
        </p:scale>
        <p:origin x="182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 smtClean="0"/>
              <a:t>Mintacím szerkesztése</a:t>
            </a:r>
            <a:endParaRPr lang="hu-HU"/>
          </a:p>
        </p:txBody>
      </p:sp>
      <p:sp>
        <p:nvSpPr>
          <p:cNvPr id="3" name="Alcím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 smtClean="0"/>
              <a:t>Kattintson ide az alcím mintájának szerkesztéséhez</a:t>
            </a:r>
            <a:endParaRPr lang="hu-HU"/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A1C864-ECCA-462D-B7AB-F2A7DFB10D08}" type="datetimeFigureOut">
              <a:rPr lang="hu-HU" smtClean="0"/>
              <a:t>2026. 09. 07.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1DA75-025B-4A2C-BFAC-7B7A85308071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5736627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smtClean="0"/>
              <a:t>Mintacím szerkesztése</a:t>
            </a:r>
            <a:endParaRPr lang="hu-HU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hu-HU"/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A1C864-ECCA-462D-B7AB-F2A7DFB10D08}" type="datetimeFigureOut">
              <a:rPr lang="hu-HU" smtClean="0"/>
              <a:t>2026. 09. 07.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1DA75-025B-4A2C-BFAC-7B7A85308071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7695351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 smtClean="0"/>
              <a:t>Mintacím szerkesztése</a:t>
            </a:r>
            <a:endParaRPr lang="hu-HU"/>
          </a:p>
        </p:txBody>
      </p:sp>
      <p:sp>
        <p:nvSpPr>
          <p:cNvPr id="3" name="Szöveg helye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A1C864-ECCA-462D-B7AB-F2A7DFB10D08}" type="datetimeFigureOut">
              <a:rPr lang="hu-HU" smtClean="0"/>
              <a:t>2026. 09. 07.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1DA75-025B-4A2C-BFAC-7B7A85308071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7081900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smtClean="0"/>
              <a:t>Mintacím szerkesztése</a:t>
            </a:r>
            <a:endParaRPr lang="hu-HU"/>
          </a:p>
        </p:txBody>
      </p:sp>
      <p:sp>
        <p:nvSpPr>
          <p:cNvPr id="3" name="Tartalom helye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hu-HU"/>
          </a:p>
        </p:txBody>
      </p:sp>
      <p:sp>
        <p:nvSpPr>
          <p:cNvPr id="4" name="Tartalom helye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hu-HU"/>
          </a:p>
        </p:txBody>
      </p:sp>
      <p:sp>
        <p:nvSpPr>
          <p:cNvPr id="5" name="Dátum hely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A1C864-ECCA-462D-B7AB-F2A7DFB10D08}" type="datetimeFigureOut">
              <a:rPr lang="hu-HU" smtClean="0"/>
              <a:t>2026. 09. 07.</a:t>
            </a:fld>
            <a:endParaRPr lang="hu-HU"/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1DA75-025B-4A2C-BFAC-7B7A85308071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4627226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 smtClean="0"/>
              <a:t>Mintacím szerkesztése</a:t>
            </a:r>
            <a:endParaRPr lang="hu-HU"/>
          </a:p>
        </p:txBody>
      </p:sp>
      <p:sp>
        <p:nvSpPr>
          <p:cNvPr id="3" name="Szöveg helye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4" name="Tartalom helye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hu-HU"/>
          </a:p>
        </p:txBody>
      </p:sp>
      <p:sp>
        <p:nvSpPr>
          <p:cNvPr id="5" name="Szöveg helye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6" name="Tartalom helye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hu-HU"/>
          </a:p>
        </p:txBody>
      </p:sp>
      <p:sp>
        <p:nvSpPr>
          <p:cNvPr id="7" name="Dátum hely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A1C864-ECCA-462D-B7AB-F2A7DFB10D08}" type="datetimeFigureOut">
              <a:rPr lang="hu-HU" smtClean="0"/>
              <a:t>2026. 09. 07.</a:t>
            </a:fld>
            <a:endParaRPr lang="hu-HU"/>
          </a:p>
        </p:txBody>
      </p:sp>
      <p:sp>
        <p:nvSpPr>
          <p:cNvPr id="8" name="Élőláb hely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1DA75-025B-4A2C-BFAC-7B7A85308071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933112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smtClean="0"/>
              <a:t>Mintacím szerkesztése</a:t>
            </a:r>
            <a:endParaRPr lang="hu-HU"/>
          </a:p>
        </p:txBody>
      </p:sp>
      <p:sp>
        <p:nvSpPr>
          <p:cNvPr id="3" name="Dátum hely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A1C864-ECCA-462D-B7AB-F2A7DFB10D08}" type="datetimeFigureOut">
              <a:rPr lang="hu-HU" smtClean="0"/>
              <a:t>2026. 09. 07.</a:t>
            </a:fld>
            <a:endParaRPr lang="hu-HU"/>
          </a:p>
        </p:txBody>
      </p:sp>
      <p:sp>
        <p:nvSpPr>
          <p:cNvPr id="4" name="Élőláb hely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1DA75-025B-4A2C-BFAC-7B7A85308071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865891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A1C864-ECCA-462D-B7AB-F2A7DFB10D08}" type="datetimeFigureOut">
              <a:rPr lang="hu-HU" smtClean="0"/>
              <a:t>2026. 09. 07.</a:t>
            </a:fld>
            <a:endParaRPr lang="hu-HU"/>
          </a:p>
        </p:txBody>
      </p:sp>
      <p:sp>
        <p:nvSpPr>
          <p:cNvPr id="3" name="Élőláb hely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1DA75-025B-4A2C-BFAC-7B7A85308071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1678700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 smtClean="0"/>
              <a:t>Mintacím szerkesztése</a:t>
            </a:r>
            <a:endParaRPr lang="hu-HU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hu-HU"/>
          </a:p>
        </p:txBody>
      </p:sp>
      <p:sp>
        <p:nvSpPr>
          <p:cNvPr id="4" name="Szöveg hely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5" name="Dátum hely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A1C864-ECCA-462D-B7AB-F2A7DFB10D08}" type="datetimeFigureOut">
              <a:rPr lang="hu-HU" smtClean="0"/>
              <a:t>2026. 09. 07.</a:t>
            </a:fld>
            <a:endParaRPr lang="hu-HU"/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1DA75-025B-4A2C-BFAC-7B7A85308071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8710112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 smtClean="0"/>
              <a:t>Mintacím szerkesztése</a:t>
            </a:r>
            <a:endParaRPr lang="hu-HU"/>
          </a:p>
        </p:txBody>
      </p:sp>
      <p:sp>
        <p:nvSpPr>
          <p:cNvPr id="3" name="Kép helye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5" name="Dátum hely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A1C864-ECCA-462D-B7AB-F2A7DFB10D08}" type="datetimeFigureOut">
              <a:rPr lang="hu-HU" smtClean="0"/>
              <a:t>2026. 09. 07.</a:t>
            </a:fld>
            <a:endParaRPr lang="hu-HU"/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1DA75-025B-4A2C-BFAC-7B7A85308071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5560669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smtClean="0"/>
              <a:t>Mintacím szerkesztése</a:t>
            </a:r>
            <a:endParaRPr lang="hu-HU"/>
          </a:p>
        </p:txBody>
      </p:sp>
      <p:sp>
        <p:nvSpPr>
          <p:cNvPr id="3" name="Függőleges szöveg helye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hu-HU"/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A1C864-ECCA-462D-B7AB-F2A7DFB10D08}" type="datetimeFigureOut">
              <a:rPr lang="hu-HU" smtClean="0"/>
              <a:t>2026. 09. 07.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1DA75-025B-4A2C-BFAC-7B7A85308071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7390484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 smtClean="0"/>
              <a:t>Mintacím szerkesztése</a:t>
            </a:r>
            <a:endParaRPr lang="hu-HU"/>
          </a:p>
        </p:txBody>
      </p:sp>
      <p:sp>
        <p:nvSpPr>
          <p:cNvPr id="3" name="Függőleges szöveg helye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hu-HU"/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A1C864-ECCA-462D-B7AB-F2A7DFB10D08}" type="datetimeFigureOut">
              <a:rPr lang="hu-HU" smtClean="0"/>
              <a:t>2026. 09. 07.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1DA75-025B-4A2C-BFAC-7B7A85308071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3137083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 smtClean="0"/>
              <a:t>Mintacím szerkesztése</a:t>
            </a:r>
            <a:endParaRPr lang="hu-HU"/>
          </a:p>
        </p:txBody>
      </p:sp>
      <p:sp>
        <p:nvSpPr>
          <p:cNvPr id="3" name="Szöveg helye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hu-HU"/>
          </a:p>
        </p:txBody>
      </p:sp>
      <p:sp>
        <p:nvSpPr>
          <p:cNvPr id="4" name="Dátum helye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A1C864-ECCA-462D-B7AB-F2A7DFB10D08}" type="datetimeFigureOut">
              <a:rPr lang="hu-HU" smtClean="0"/>
              <a:t>2026. 09. 07.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AB1DA75-025B-4A2C-BFAC-7B7A85308071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9199599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79000"/>
            <a:lum/>
          </a:blip>
          <a:srcRect/>
          <a:stretch>
            <a:fillRect l="-58000" t="-1000" r="-2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hu-HU" b="1" dirty="0" smtClean="0">
                <a:solidFill>
                  <a:schemeClr val="bg1"/>
                </a:solidFill>
                <a:latin typeface="Arial Black" panose="020B0A04020102020204" pitchFamily="34" charset="0"/>
              </a:rPr>
              <a:t/>
            </a:r>
            <a:br>
              <a:rPr lang="hu-HU" b="1" dirty="0" smtClean="0">
                <a:solidFill>
                  <a:schemeClr val="bg1"/>
                </a:solidFill>
                <a:latin typeface="Arial Black" panose="020B0A04020102020204" pitchFamily="34" charset="0"/>
              </a:rPr>
            </a:br>
            <a:r>
              <a:rPr lang="hu-HU" b="1" dirty="0">
                <a:solidFill>
                  <a:schemeClr val="bg1"/>
                </a:solidFill>
                <a:latin typeface="Arial Black" panose="020B0A04020102020204" pitchFamily="34" charset="0"/>
              </a:rPr>
              <a:t/>
            </a:r>
            <a:br>
              <a:rPr lang="hu-HU" b="1" dirty="0">
                <a:solidFill>
                  <a:schemeClr val="bg1"/>
                </a:solidFill>
                <a:latin typeface="Arial Black" panose="020B0A04020102020204" pitchFamily="34" charset="0"/>
              </a:rPr>
            </a:br>
            <a:r>
              <a:rPr lang="hu-HU" b="1" dirty="0" smtClean="0">
                <a:solidFill>
                  <a:schemeClr val="bg1"/>
                </a:solidFill>
                <a:latin typeface="Arial Black" panose="020B0A04020102020204" pitchFamily="34" charset="0"/>
              </a:rPr>
              <a:t/>
            </a:r>
            <a:br>
              <a:rPr lang="hu-HU" b="1" dirty="0" smtClean="0">
                <a:solidFill>
                  <a:schemeClr val="bg1"/>
                </a:solidFill>
                <a:latin typeface="Arial Black" panose="020B0A04020102020204" pitchFamily="34" charset="0"/>
              </a:rPr>
            </a:br>
            <a:r>
              <a:rPr lang="hu-HU" b="1" dirty="0"/>
              <a:t/>
            </a:r>
            <a:br>
              <a:rPr lang="hu-HU" b="1" dirty="0"/>
            </a:br>
            <a:r>
              <a:rPr lang="hu-HU" b="1" dirty="0" smtClean="0">
                <a:solidFill>
                  <a:schemeClr val="bg1"/>
                </a:solidFill>
                <a:latin typeface="Arial Black" panose="020B0A04020102020204" pitchFamily="34" charset="0"/>
              </a:rPr>
              <a:t>Okosotthon kiépítése</a:t>
            </a:r>
            <a:br>
              <a:rPr lang="hu-HU" b="1" dirty="0" smtClean="0">
                <a:solidFill>
                  <a:schemeClr val="bg1"/>
                </a:solidFill>
                <a:latin typeface="Arial Black" panose="020B0A04020102020204" pitchFamily="34" charset="0"/>
              </a:rPr>
            </a:br>
            <a:r>
              <a:rPr lang="hu-HU" b="1" dirty="0" smtClean="0">
                <a:solidFill>
                  <a:schemeClr val="bg1"/>
                </a:solidFill>
                <a:latin typeface="Arial Black" panose="020B0A04020102020204" pitchFamily="34" charset="0"/>
              </a:rPr>
              <a:t>   </a:t>
            </a:r>
            <a:r>
              <a:rPr lang="hu-HU" b="1" dirty="0" err="1" smtClean="0">
                <a:solidFill>
                  <a:schemeClr val="bg1"/>
                </a:solidFill>
                <a:latin typeface="Arial Black" panose="020B0A04020102020204" pitchFamily="34" charset="0"/>
              </a:rPr>
              <a:t>paket</a:t>
            </a:r>
            <a:r>
              <a:rPr lang="hu-HU" b="1" dirty="0" smtClean="0">
                <a:solidFill>
                  <a:schemeClr val="bg1"/>
                </a:solidFill>
                <a:latin typeface="Arial Black" panose="020B0A04020102020204" pitchFamily="34" charset="0"/>
              </a:rPr>
              <a:t> </a:t>
            </a:r>
            <a:r>
              <a:rPr lang="hu-HU" b="1" dirty="0" err="1" smtClean="0">
                <a:solidFill>
                  <a:schemeClr val="bg1"/>
                </a:solidFill>
                <a:latin typeface="Arial Black" panose="020B0A04020102020204" pitchFamily="34" charset="0"/>
              </a:rPr>
              <a:t>tracer</a:t>
            </a:r>
            <a:r>
              <a:rPr lang="hu-HU" b="1" dirty="0" smtClean="0">
                <a:solidFill>
                  <a:schemeClr val="bg1"/>
                </a:solidFill>
                <a:latin typeface="Arial Black" panose="020B0A04020102020204" pitchFamily="34" charset="0"/>
              </a:rPr>
              <a:t> szimulációval</a:t>
            </a:r>
            <a:endParaRPr lang="hu-HU" b="1" dirty="0"/>
          </a:p>
        </p:txBody>
      </p:sp>
      <p:sp>
        <p:nvSpPr>
          <p:cNvPr id="4" name="Szövegdoboz 3"/>
          <p:cNvSpPr txBox="1"/>
          <p:nvPr/>
        </p:nvSpPr>
        <p:spPr>
          <a:xfrm>
            <a:off x="8547482" y="5227385"/>
            <a:ext cx="251558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 smtClean="0">
                <a:solidFill>
                  <a:schemeClr val="bg1"/>
                </a:solidFill>
              </a:rPr>
              <a:t>Mezei Lajos</a:t>
            </a:r>
          </a:p>
          <a:p>
            <a:r>
              <a:rPr lang="hu-HU" dirty="0" smtClean="0">
                <a:solidFill>
                  <a:schemeClr val="bg1"/>
                </a:solidFill>
              </a:rPr>
              <a:t>Surányi Gergő</a:t>
            </a:r>
            <a:endParaRPr lang="hu-HU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776544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79000"/>
            <a:lum/>
          </a:blip>
          <a:srcRect/>
          <a:stretch>
            <a:fillRect l="-58000" t="-1000" r="-2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hu-HU" b="1" dirty="0" smtClean="0">
                <a:solidFill>
                  <a:schemeClr val="bg1"/>
                </a:solidFill>
                <a:latin typeface="Arial Black" panose="020B0A04020102020204" pitchFamily="34" charset="0"/>
              </a:rPr>
              <a:t/>
            </a:r>
            <a:br>
              <a:rPr lang="hu-HU" b="1" dirty="0" smtClean="0">
                <a:solidFill>
                  <a:schemeClr val="bg1"/>
                </a:solidFill>
                <a:latin typeface="Arial Black" panose="020B0A04020102020204" pitchFamily="34" charset="0"/>
              </a:rPr>
            </a:br>
            <a:r>
              <a:rPr lang="hu-HU" b="1" dirty="0">
                <a:solidFill>
                  <a:schemeClr val="bg1"/>
                </a:solidFill>
                <a:latin typeface="Arial Black" panose="020B0A04020102020204" pitchFamily="34" charset="0"/>
              </a:rPr>
              <a:t/>
            </a:r>
            <a:br>
              <a:rPr lang="hu-HU" b="1" dirty="0">
                <a:solidFill>
                  <a:schemeClr val="bg1"/>
                </a:solidFill>
                <a:latin typeface="Arial Black" panose="020B0A04020102020204" pitchFamily="34" charset="0"/>
              </a:rPr>
            </a:br>
            <a:r>
              <a:rPr lang="hu-HU" b="1" dirty="0" smtClean="0">
                <a:solidFill>
                  <a:schemeClr val="bg1"/>
                </a:solidFill>
                <a:latin typeface="Arial Black" panose="020B0A04020102020204" pitchFamily="34" charset="0"/>
              </a:rPr>
              <a:t/>
            </a:r>
            <a:br>
              <a:rPr lang="hu-HU" b="1" dirty="0" smtClean="0">
                <a:solidFill>
                  <a:schemeClr val="bg1"/>
                </a:solidFill>
                <a:latin typeface="Arial Black" panose="020B0A04020102020204" pitchFamily="34" charset="0"/>
              </a:rPr>
            </a:br>
            <a:r>
              <a:rPr lang="hu-HU" b="1" dirty="0"/>
              <a:t/>
            </a:r>
            <a:br>
              <a:rPr lang="hu-HU" b="1" dirty="0"/>
            </a:br>
            <a:endParaRPr lang="hu-HU" b="1" dirty="0"/>
          </a:p>
        </p:txBody>
      </p:sp>
      <p:sp>
        <p:nvSpPr>
          <p:cNvPr id="3" name="Szövegdoboz 2"/>
          <p:cNvSpPr txBox="1"/>
          <p:nvPr/>
        </p:nvSpPr>
        <p:spPr>
          <a:xfrm>
            <a:off x="780971" y="290410"/>
            <a:ext cx="10309564" cy="72943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hu-HU" dirty="0" smtClean="0"/>
          </a:p>
          <a:p>
            <a:endParaRPr lang="hu-HU" dirty="0" smtClean="0">
              <a:solidFill>
                <a:schemeClr val="bg1"/>
              </a:solidFill>
            </a:endParaRPr>
          </a:p>
          <a:p>
            <a:r>
              <a:rPr lang="hu-HU" dirty="0" smtClean="0">
                <a:solidFill>
                  <a:schemeClr val="bg1"/>
                </a:solidFill>
              </a:rPr>
              <a:t>Az </a:t>
            </a:r>
            <a:r>
              <a:rPr lang="hu-HU" b="1" dirty="0">
                <a:solidFill>
                  <a:schemeClr val="bg1"/>
                </a:solidFill>
              </a:rPr>
              <a:t>okosotthon</a:t>
            </a:r>
            <a:r>
              <a:rPr lang="hu-HU" dirty="0">
                <a:solidFill>
                  <a:schemeClr val="bg1"/>
                </a:solidFill>
              </a:rPr>
              <a:t> egy komplex, digitálisan vezérelt lakókörnyezet, amelyben az eszközök nemcsak külön-külön működnek, hanem egymással összehangolt rendszert alkotnak. Lényege, hogy a ház „intelligensen” reagál a benne élők igényeire, és sok feladatot automatikusan elvégez.</a:t>
            </a:r>
          </a:p>
          <a:p>
            <a:endParaRPr lang="hu-HU" dirty="0" smtClean="0">
              <a:solidFill>
                <a:schemeClr val="bg1"/>
              </a:solidFill>
            </a:endParaRPr>
          </a:p>
          <a:p>
            <a:endParaRPr lang="hu-HU" dirty="0" smtClean="0">
              <a:solidFill>
                <a:schemeClr val="bg1"/>
              </a:solidFill>
            </a:endParaRPr>
          </a:p>
          <a:p>
            <a:r>
              <a:rPr lang="hu-HU" dirty="0" smtClean="0">
                <a:solidFill>
                  <a:schemeClr val="bg1"/>
                </a:solidFill>
              </a:rPr>
              <a:t>Működési alapelve:</a:t>
            </a:r>
          </a:p>
          <a:p>
            <a:endParaRPr lang="hu-HU" dirty="0">
              <a:solidFill>
                <a:schemeClr val="bg1"/>
              </a:solidFill>
            </a:endParaRPr>
          </a:p>
          <a:p>
            <a:r>
              <a:rPr lang="hu-HU" dirty="0" smtClean="0">
                <a:solidFill>
                  <a:schemeClr val="bg1"/>
                </a:solidFill>
              </a:rPr>
              <a:t>Az </a:t>
            </a:r>
            <a:r>
              <a:rPr lang="hu-HU" dirty="0">
                <a:solidFill>
                  <a:schemeClr val="bg1"/>
                </a:solidFill>
              </a:rPr>
              <a:t>okosotthon központi eleme egy vezérlőrendszer, amely összekapcsolja az eszközöket. Ezek az eszközök szenzorok (pl. hőmérséklet-, fény-, mozgásérzékelők) és végrehajtó egységek (pl. lámpák, termosztátok, zárak). Az adatok folyamatosan áramlanak közöttük, így a rendszer képes döntéseket hozni</a:t>
            </a:r>
            <a:r>
              <a:rPr lang="hu-HU" dirty="0" smtClean="0">
                <a:solidFill>
                  <a:schemeClr val="bg1"/>
                </a:solidFill>
              </a:rPr>
              <a:t>.</a:t>
            </a:r>
          </a:p>
          <a:p>
            <a:endParaRPr lang="hu-HU" dirty="0" smtClean="0">
              <a:solidFill>
                <a:schemeClr val="bg1"/>
              </a:solidFill>
            </a:endParaRPr>
          </a:p>
          <a:p>
            <a:endParaRPr lang="hu-HU" dirty="0">
              <a:solidFill>
                <a:schemeClr val="bg1"/>
              </a:solidFill>
            </a:endParaRPr>
          </a:p>
          <a:p>
            <a:r>
              <a:rPr lang="hu-HU" dirty="0">
                <a:solidFill>
                  <a:schemeClr val="bg1"/>
                </a:solidFill>
              </a:rPr>
              <a:t>Főbb rendszerek az </a:t>
            </a:r>
            <a:r>
              <a:rPr lang="hu-HU" dirty="0" smtClean="0">
                <a:solidFill>
                  <a:schemeClr val="bg1"/>
                </a:solidFill>
              </a:rPr>
              <a:t>okosotthonban:</a:t>
            </a:r>
          </a:p>
          <a:p>
            <a:endParaRPr lang="hu-HU" dirty="0" smtClean="0">
              <a:solidFill>
                <a:schemeClr val="bg1"/>
              </a:solidFill>
            </a:endParaRPr>
          </a:p>
          <a:p>
            <a:r>
              <a:rPr lang="hu-HU" b="1" dirty="0">
                <a:solidFill>
                  <a:schemeClr val="bg1"/>
                </a:solidFill>
              </a:rPr>
              <a:t>	</a:t>
            </a:r>
            <a:r>
              <a:rPr lang="hu-HU" b="1" dirty="0" smtClean="0">
                <a:solidFill>
                  <a:schemeClr val="bg1"/>
                </a:solidFill>
              </a:rPr>
              <a:t>			- Világításvezérlés</a:t>
            </a:r>
          </a:p>
          <a:p>
            <a:r>
              <a:rPr lang="hu-HU" b="1" dirty="0">
                <a:solidFill>
                  <a:schemeClr val="bg1"/>
                </a:solidFill>
              </a:rPr>
              <a:t>	</a:t>
            </a:r>
            <a:r>
              <a:rPr lang="hu-HU" b="1" dirty="0" smtClean="0">
                <a:solidFill>
                  <a:schemeClr val="bg1"/>
                </a:solidFill>
              </a:rPr>
              <a:t>			- </a:t>
            </a:r>
            <a:r>
              <a:rPr lang="hu-HU" b="1" dirty="0">
                <a:solidFill>
                  <a:schemeClr val="bg1"/>
                </a:solidFill>
              </a:rPr>
              <a:t>Fűtés és klíma </a:t>
            </a:r>
            <a:endParaRPr lang="hu-HU" b="1" dirty="0" smtClean="0">
              <a:solidFill>
                <a:schemeClr val="bg1"/>
              </a:solidFill>
            </a:endParaRPr>
          </a:p>
          <a:p>
            <a:r>
              <a:rPr lang="hu-HU" b="1" dirty="0">
                <a:solidFill>
                  <a:schemeClr val="bg1"/>
                </a:solidFill>
              </a:rPr>
              <a:t>	</a:t>
            </a:r>
            <a:r>
              <a:rPr lang="hu-HU" b="1" dirty="0" smtClean="0">
                <a:solidFill>
                  <a:schemeClr val="bg1"/>
                </a:solidFill>
              </a:rPr>
              <a:t>			-Biztonságtechnika</a:t>
            </a:r>
          </a:p>
          <a:p>
            <a:r>
              <a:rPr lang="hu-HU" b="1" dirty="0">
                <a:solidFill>
                  <a:schemeClr val="bg1"/>
                </a:solidFill>
              </a:rPr>
              <a:t>	</a:t>
            </a:r>
            <a:r>
              <a:rPr lang="hu-HU" b="1" dirty="0" smtClean="0">
                <a:solidFill>
                  <a:schemeClr val="bg1"/>
                </a:solidFill>
              </a:rPr>
              <a:t>			- </a:t>
            </a:r>
            <a:r>
              <a:rPr lang="hu-HU" b="1" dirty="0">
                <a:solidFill>
                  <a:schemeClr val="bg1"/>
                </a:solidFill>
              </a:rPr>
              <a:t>Háztartási </a:t>
            </a:r>
            <a:r>
              <a:rPr lang="hu-HU" b="1" dirty="0" smtClean="0">
                <a:solidFill>
                  <a:schemeClr val="bg1"/>
                </a:solidFill>
              </a:rPr>
              <a:t>gépek</a:t>
            </a:r>
          </a:p>
          <a:p>
            <a:r>
              <a:rPr lang="hu-HU" b="1" dirty="0">
                <a:solidFill>
                  <a:schemeClr val="bg1"/>
                </a:solidFill>
              </a:rPr>
              <a:t>	</a:t>
            </a:r>
            <a:r>
              <a:rPr lang="hu-HU" b="1" dirty="0" smtClean="0">
                <a:solidFill>
                  <a:schemeClr val="bg1"/>
                </a:solidFill>
              </a:rPr>
              <a:t>			- </a:t>
            </a:r>
            <a:r>
              <a:rPr lang="hu-HU" b="1" dirty="0">
                <a:solidFill>
                  <a:schemeClr val="bg1"/>
                </a:solidFill>
              </a:rPr>
              <a:t>Szórakoztató rendszerek</a:t>
            </a:r>
            <a:r>
              <a:rPr lang="hu-HU" dirty="0"/>
              <a:t/>
            </a:r>
            <a:br>
              <a:rPr lang="hu-HU" dirty="0"/>
            </a:br>
            <a:endParaRPr lang="hu-HU" dirty="0"/>
          </a:p>
          <a:p>
            <a:endParaRPr lang="hu-HU" b="1" dirty="0" smtClean="0"/>
          </a:p>
          <a:p>
            <a:endParaRPr lang="hu-HU" b="1" dirty="0" smtClean="0"/>
          </a:p>
          <a:p>
            <a:pPr marL="285750" indent="-285750">
              <a:buFontTx/>
              <a:buChar char="-"/>
            </a:pPr>
            <a:endParaRPr lang="hu-HU" dirty="0"/>
          </a:p>
          <a:p>
            <a:endParaRPr lang="hu-HU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137181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79000"/>
            <a:lum/>
          </a:blip>
          <a:srcRect/>
          <a:stretch>
            <a:fillRect l="-58000" t="-1000" r="-2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hu-HU" b="1" dirty="0" smtClean="0">
                <a:solidFill>
                  <a:schemeClr val="bg1"/>
                </a:solidFill>
                <a:latin typeface="Arial Black" panose="020B0A04020102020204" pitchFamily="34" charset="0"/>
              </a:rPr>
              <a:t/>
            </a:r>
            <a:br>
              <a:rPr lang="hu-HU" b="1" dirty="0" smtClean="0">
                <a:solidFill>
                  <a:schemeClr val="bg1"/>
                </a:solidFill>
                <a:latin typeface="Arial Black" panose="020B0A04020102020204" pitchFamily="34" charset="0"/>
              </a:rPr>
            </a:br>
            <a:r>
              <a:rPr lang="hu-HU" b="1" dirty="0" smtClean="0">
                <a:solidFill>
                  <a:schemeClr val="bg1"/>
                </a:solidFill>
                <a:latin typeface="Arial Black" panose="020B0A04020102020204" pitchFamily="34" charset="0"/>
              </a:rPr>
              <a:t/>
            </a:r>
            <a:br>
              <a:rPr lang="hu-HU" b="1" dirty="0" smtClean="0">
                <a:solidFill>
                  <a:schemeClr val="bg1"/>
                </a:solidFill>
                <a:latin typeface="Arial Black" panose="020B0A04020102020204" pitchFamily="34" charset="0"/>
              </a:rPr>
            </a:br>
            <a:r>
              <a:rPr lang="hu-HU" b="1" dirty="0" smtClean="0">
                <a:solidFill>
                  <a:schemeClr val="bg1"/>
                </a:solidFill>
                <a:latin typeface="Arial Black" panose="020B0A04020102020204" pitchFamily="34" charset="0"/>
              </a:rPr>
              <a:t/>
            </a:r>
            <a:br>
              <a:rPr lang="hu-HU" b="1" dirty="0" smtClean="0">
                <a:solidFill>
                  <a:schemeClr val="bg1"/>
                </a:solidFill>
                <a:latin typeface="Arial Black" panose="020B0A04020102020204" pitchFamily="34" charset="0"/>
              </a:rPr>
            </a:br>
            <a:r>
              <a:rPr lang="hu-HU" b="1" dirty="0" smtClean="0"/>
              <a:t/>
            </a:r>
            <a:br>
              <a:rPr lang="hu-HU" b="1" dirty="0" smtClean="0"/>
            </a:br>
            <a:endParaRPr lang="hu-HU" b="1" dirty="0"/>
          </a:p>
        </p:txBody>
      </p:sp>
      <p:sp>
        <p:nvSpPr>
          <p:cNvPr id="3" name="Szövegdoboz 2"/>
          <p:cNvSpPr txBox="1"/>
          <p:nvPr/>
        </p:nvSpPr>
        <p:spPr>
          <a:xfrm>
            <a:off x="3940160" y="567541"/>
            <a:ext cx="659702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800" dirty="0" smtClean="0">
                <a:solidFill>
                  <a:schemeClr val="bg1"/>
                </a:solidFill>
                <a:latin typeface="Arial Black" panose="020B0A04020102020204" pitchFamily="34" charset="0"/>
              </a:rPr>
              <a:t>Hálózati Topológia</a:t>
            </a:r>
            <a:endParaRPr lang="hu-HU" sz="2800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  <p:sp>
        <p:nvSpPr>
          <p:cNvPr id="9" name="Szövegdoboz 8"/>
          <p:cNvSpPr txBox="1"/>
          <p:nvPr/>
        </p:nvSpPr>
        <p:spPr>
          <a:xfrm>
            <a:off x="3449603" y="1708787"/>
            <a:ext cx="6926678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indent="1350963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hu-HU" altLang="hu-HU" dirty="0" smtClean="0">
                <a:solidFill>
                  <a:schemeClr val="bg1"/>
                </a:solidFill>
                <a:latin typeface="Arial Unicode MS" panose="020B0604020202020204" pitchFamily="34" charset="-128"/>
                <a:ea typeface="Times New Roman" panose="02020603050405020304" pitchFamily="18" charset="0"/>
                <a:cs typeface="Courier New" panose="02070309020205020404" pitchFamily="49" charset="0"/>
              </a:rPr>
              <a:t>INTERNET</a:t>
            </a:r>
            <a:r>
              <a:rPr lang="hu-HU" altLang="hu-HU" dirty="0">
                <a:solidFill>
                  <a:schemeClr val="bg1"/>
                </a:solidFill>
                <a:latin typeface="Arial Unicode MS" panose="020B0604020202020204" pitchFamily="34" charset="-128"/>
                <a:ea typeface="Times New Roman" panose="02020603050405020304" pitchFamily="18" charset="0"/>
                <a:cs typeface="Courier New" panose="02070309020205020404" pitchFamily="49" charset="0"/>
              </a:rPr>
              <a:t/>
            </a:r>
            <a:br>
              <a:rPr lang="hu-HU" altLang="hu-HU" dirty="0">
                <a:solidFill>
                  <a:schemeClr val="bg1"/>
                </a:solidFill>
                <a:latin typeface="Arial Unicode MS" panose="020B0604020202020204" pitchFamily="34" charset="-128"/>
                <a:ea typeface="Times New Roman" panose="02020603050405020304" pitchFamily="18" charset="0"/>
                <a:cs typeface="Courier New" panose="02070309020205020404" pitchFamily="49" charset="0"/>
              </a:rPr>
            </a:br>
            <a:r>
              <a:rPr lang="hu-HU" altLang="hu-HU" dirty="0">
                <a:solidFill>
                  <a:schemeClr val="bg1"/>
                </a:solidFill>
                <a:latin typeface="Arial Unicode MS" panose="020B0604020202020204" pitchFamily="34" charset="-128"/>
                <a:ea typeface="Times New Roman" panose="02020603050405020304" pitchFamily="18" charset="0"/>
                <a:cs typeface="Courier New" panose="02070309020205020404" pitchFamily="49" charset="0"/>
              </a:rPr>
              <a:t>                        |</a:t>
            </a:r>
            <a:br>
              <a:rPr lang="hu-HU" altLang="hu-HU" dirty="0">
                <a:solidFill>
                  <a:schemeClr val="bg1"/>
                </a:solidFill>
                <a:latin typeface="Arial Unicode MS" panose="020B0604020202020204" pitchFamily="34" charset="-128"/>
                <a:ea typeface="Times New Roman" panose="02020603050405020304" pitchFamily="18" charset="0"/>
                <a:cs typeface="Courier New" panose="02070309020205020404" pitchFamily="49" charset="0"/>
              </a:rPr>
            </a:br>
            <a:r>
              <a:rPr lang="hu-HU" altLang="hu-HU" dirty="0">
                <a:solidFill>
                  <a:schemeClr val="bg1"/>
                </a:solidFill>
                <a:latin typeface="Arial Unicode MS" panose="020B0604020202020204" pitchFamily="34" charset="-128"/>
                <a:ea typeface="Times New Roman" panose="02020603050405020304" pitchFamily="18" charset="0"/>
                <a:cs typeface="Courier New" panose="02070309020205020404" pitchFamily="49" charset="0"/>
              </a:rPr>
              <a:t>                   [ ISP CLOUD ]</a:t>
            </a:r>
            <a:br>
              <a:rPr lang="hu-HU" altLang="hu-HU" dirty="0">
                <a:solidFill>
                  <a:schemeClr val="bg1"/>
                </a:solidFill>
                <a:latin typeface="Arial Unicode MS" panose="020B0604020202020204" pitchFamily="34" charset="-128"/>
                <a:ea typeface="Times New Roman" panose="02020603050405020304" pitchFamily="18" charset="0"/>
                <a:cs typeface="Courier New" panose="02070309020205020404" pitchFamily="49" charset="0"/>
              </a:rPr>
            </a:br>
            <a:r>
              <a:rPr lang="hu-HU" altLang="hu-HU" dirty="0">
                <a:solidFill>
                  <a:schemeClr val="bg1"/>
                </a:solidFill>
                <a:latin typeface="Arial Unicode MS" panose="020B0604020202020204" pitchFamily="34" charset="-128"/>
                <a:ea typeface="Times New Roman" panose="02020603050405020304" pitchFamily="18" charset="0"/>
                <a:cs typeface="Courier New" panose="02070309020205020404" pitchFamily="49" charset="0"/>
              </a:rPr>
              <a:t>                        |</a:t>
            </a:r>
            <a:br>
              <a:rPr lang="hu-HU" altLang="hu-HU" dirty="0">
                <a:solidFill>
                  <a:schemeClr val="bg1"/>
                </a:solidFill>
                <a:latin typeface="Arial Unicode MS" panose="020B0604020202020204" pitchFamily="34" charset="-128"/>
                <a:ea typeface="Times New Roman" panose="02020603050405020304" pitchFamily="18" charset="0"/>
                <a:cs typeface="Courier New" panose="02070309020205020404" pitchFamily="49" charset="0"/>
              </a:rPr>
            </a:br>
            <a:r>
              <a:rPr lang="hu-HU" altLang="hu-HU" dirty="0">
                <a:solidFill>
                  <a:schemeClr val="bg1"/>
                </a:solidFill>
                <a:latin typeface="Arial Unicode MS" panose="020B0604020202020204" pitchFamily="34" charset="-128"/>
                <a:ea typeface="Times New Roman" panose="02020603050405020304" pitchFamily="18" charset="0"/>
                <a:cs typeface="Courier New" panose="02070309020205020404" pitchFamily="49" charset="0"/>
              </a:rPr>
              <a:t>                 [ Cisco </a:t>
            </a:r>
            <a:r>
              <a:rPr lang="hu-HU" altLang="hu-HU" dirty="0" err="1">
                <a:solidFill>
                  <a:schemeClr val="bg1"/>
                </a:solidFill>
                <a:latin typeface="Arial Unicode MS" panose="020B0604020202020204" pitchFamily="34" charset="-128"/>
                <a:ea typeface="Times New Roman" panose="02020603050405020304" pitchFamily="18" charset="0"/>
                <a:cs typeface="Courier New" panose="02070309020205020404" pitchFamily="49" charset="0"/>
              </a:rPr>
              <a:t>Router</a:t>
            </a:r>
            <a:r>
              <a:rPr lang="hu-HU" altLang="hu-HU" dirty="0">
                <a:solidFill>
                  <a:schemeClr val="bg1"/>
                </a:solidFill>
                <a:latin typeface="Arial Unicode MS" panose="020B0604020202020204" pitchFamily="34" charset="-128"/>
                <a:ea typeface="Times New Roman" panose="02020603050405020304" pitchFamily="18" charset="0"/>
                <a:cs typeface="Courier New" panose="02070309020205020404" pitchFamily="49" charset="0"/>
              </a:rPr>
              <a:t> ]</a:t>
            </a:r>
            <a:br>
              <a:rPr lang="hu-HU" altLang="hu-HU" dirty="0">
                <a:solidFill>
                  <a:schemeClr val="bg1"/>
                </a:solidFill>
                <a:latin typeface="Arial Unicode MS" panose="020B0604020202020204" pitchFamily="34" charset="-128"/>
                <a:ea typeface="Times New Roman" panose="02020603050405020304" pitchFamily="18" charset="0"/>
                <a:cs typeface="Courier New" panose="02070309020205020404" pitchFamily="49" charset="0"/>
              </a:rPr>
            </a:br>
            <a:r>
              <a:rPr lang="hu-HU" altLang="hu-HU" dirty="0">
                <a:solidFill>
                  <a:schemeClr val="bg1"/>
                </a:solidFill>
                <a:latin typeface="Arial Unicode MS" panose="020B0604020202020204" pitchFamily="34" charset="-128"/>
                <a:ea typeface="Times New Roman" panose="02020603050405020304" pitchFamily="18" charset="0"/>
                <a:cs typeface="Courier New" panose="02070309020205020404" pitchFamily="49" charset="0"/>
              </a:rPr>
              <a:t>                        |</a:t>
            </a:r>
            <a:br>
              <a:rPr lang="hu-HU" altLang="hu-HU" dirty="0">
                <a:solidFill>
                  <a:schemeClr val="bg1"/>
                </a:solidFill>
                <a:latin typeface="Arial Unicode MS" panose="020B0604020202020204" pitchFamily="34" charset="-128"/>
                <a:ea typeface="Times New Roman" panose="02020603050405020304" pitchFamily="18" charset="0"/>
                <a:cs typeface="Courier New" panose="02070309020205020404" pitchFamily="49" charset="0"/>
              </a:rPr>
            </a:br>
            <a:r>
              <a:rPr lang="hu-HU" altLang="hu-HU" dirty="0">
                <a:solidFill>
                  <a:schemeClr val="bg1"/>
                </a:solidFill>
                <a:latin typeface="Arial Unicode MS" panose="020B0604020202020204" pitchFamily="34" charset="-128"/>
                <a:ea typeface="Times New Roman" panose="02020603050405020304" pitchFamily="18" charset="0"/>
                <a:cs typeface="Courier New" panose="02070309020205020404" pitchFamily="49" charset="0"/>
              </a:rPr>
              <a:t>                 [ </a:t>
            </a:r>
            <a:r>
              <a:rPr lang="hu-HU" altLang="hu-HU" dirty="0" smtClean="0">
                <a:solidFill>
                  <a:schemeClr val="bg1"/>
                </a:solidFill>
                <a:latin typeface="Arial Unicode MS" panose="020B0604020202020204" pitchFamily="34" charset="-128"/>
                <a:ea typeface="Times New Roman" panose="02020603050405020304" pitchFamily="18" charset="0"/>
                <a:cs typeface="Courier New" panose="02070309020205020404" pitchFamily="49" charset="0"/>
              </a:rPr>
              <a:t> </a:t>
            </a:r>
            <a:r>
              <a:rPr lang="hu-HU" altLang="hu-HU" dirty="0">
                <a:solidFill>
                  <a:schemeClr val="bg1"/>
                </a:solidFill>
                <a:latin typeface="Arial Unicode MS" panose="020B0604020202020204" pitchFamily="34" charset="-128"/>
                <a:ea typeface="Times New Roman" panose="02020603050405020304" pitchFamily="18" charset="0"/>
                <a:cs typeface="Courier New" panose="02070309020205020404" pitchFamily="49" charset="0"/>
              </a:rPr>
              <a:t>SWITCH ]</a:t>
            </a:r>
            <a:br>
              <a:rPr lang="hu-HU" altLang="hu-HU" dirty="0">
                <a:solidFill>
                  <a:schemeClr val="bg1"/>
                </a:solidFill>
                <a:latin typeface="Arial Unicode MS" panose="020B0604020202020204" pitchFamily="34" charset="-128"/>
                <a:ea typeface="Times New Roman" panose="02020603050405020304" pitchFamily="18" charset="0"/>
                <a:cs typeface="Courier New" panose="02070309020205020404" pitchFamily="49" charset="0"/>
              </a:rPr>
            </a:br>
            <a:r>
              <a:rPr lang="hu-HU" altLang="hu-HU" dirty="0">
                <a:solidFill>
                  <a:schemeClr val="bg1"/>
                </a:solidFill>
                <a:latin typeface="Arial Unicode MS" panose="020B0604020202020204" pitchFamily="34" charset="-128"/>
                <a:ea typeface="Times New Roman" panose="02020603050405020304" pitchFamily="18" charset="0"/>
                <a:cs typeface="Courier New" panose="02070309020205020404" pitchFamily="49" charset="0"/>
              </a:rPr>
              <a:t>        __________________|__________________</a:t>
            </a:r>
            <a:br>
              <a:rPr lang="hu-HU" altLang="hu-HU" dirty="0">
                <a:solidFill>
                  <a:schemeClr val="bg1"/>
                </a:solidFill>
                <a:latin typeface="Arial Unicode MS" panose="020B0604020202020204" pitchFamily="34" charset="-128"/>
                <a:ea typeface="Times New Roman" panose="02020603050405020304" pitchFamily="18" charset="0"/>
                <a:cs typeface="Courier New" panose="02070309020205020404" pitchFamily="49" charset="0"/>
              </a:rPr>
            </a:br>
            <a:r>
              <a:rPr lang="hu-HU" altLang="hu-HU" dirty="0">
                <a:solidFill>
                  <a:schemeClr val="bg1"/>
                </a:solidFill>
                <a:latin typeface="Arial Unicode MS" panose="020B0604020202020204" pitchFamily="34" charset="-128"/>
                <a:ea typeface="Times New Roman" panose="02020603050405020304" pitchFamily="18" charset="0"/>
                <a:cs typeface="Courier New" panose="02070309020205020404" pitchFamily="49" charset="0"/>
              </a:rPr>
              <a:t>       |          |          |          |</a:t>
            </a:r>
            <a:br>
              <a:rPr lang="hu-HU" altLang="hu-HU" dirty="0">
                <a:solidFill>
                  <a:schemeClr val="bg1"/>
                </a:solidFill>
                <a:latin typeface="Arial Unicode MS" panose="020B0604020202020204" pitchFamily="34" charset="-128"/>
                <a:ea typeface="Times New Roman" panose="02020603050405020304" pitchFamily="18" charset="0"/>
                <a:cs typeface="Courier New" panose="02070309020205020404" pitchFamily="49" charset="0"/>
              </a:rPr>
            </a:br>
            <a:r>
              <a:rPr lang="hu-HU" altLang="hu-HU" dirty="0">
                <a:solidFill>
                  <a:schemeClr val="bg1"/>
                </a:solidFill>
                <a:latin typeface="Arial Unicode MS" panose="020B0604020202020204" pitchFamily="34" charset="-128"/>
                <a:ea typeface="Times New Roman" panose="02020603050405020304" pitchFamily="18" charset="0"/>
                <a:cs typeface="Courier New" panose="02070309020205020404" pitchFamily="49" charset="0"/>
              </a:rPr>
              <a:t>   VLAN10     VLAN20    VLAN30     VLAN40</a:t>
            </a:r>
            <a:br>
              <a:rPr lang="hu-HU" altLang="hu-HU" dirty="0">
                <a:solidFill>
                  <a:schemeClr val="bg1"/>
                </a:solidFill>
                <a:latin typeface="Arial Unicode MS" panose="020B0604020202020204" pitchFamily="34" charset="-128"/>
                <a:ea typeface="Times New Roman" panose="02020603050405020304" pitchFamily="18" charset="0"/>
                <a:cs typeface="Courier New" panose="02070309020205020404" pitchFamily="49" charset="0"/>
              </a:rPr>
            </a:br>
            <a:r>
              <a:rPr lang="hu-HU" altLang="hu-HU" dirty="0">
                <a:solidFill>
                  <a:schemeClr val="bg1"/>
                </a:solidFill>
                <a:latin typeface="Arial Unicode MS" panose="020B0604020202020204" pitchFamily="34" charset="-128"/>
                <a:ea typeface="Times New Roman" panose="02020603050405020304" pitchFamily="18" charset="0"/>
                <a:cs typeface="Courier New" panose="02070309020205020404" pitchFamily="49" charset="0"/>
              </a:rPr>
              <a:t>    ADMIN      USERS       IOT      CCTV</a:t>
            </a:r>
            <a:br>
              <a:rPr lang="hu-HU" altLang="hu-HU" dirty="0">
                <a:solidFill>
                  <a:schemeClr val="bg1"/>
                </a:solidFill>
                <a:latin typeface="Arial Unicode MS" panose="020B0604020202020204" pitchFamily="34" charset="-128"/>
                <a:ea typeface="Times New Roman" panose="02020603050405020304" pitchFamily="18" charset="0"/>
                <a:cs typeface="Courier New" panose="02070309020205020404" pitchFamily="49" charset="0"/>
              </a:rPr>
            </a:br>
            <a:r>
              <a:rPr lang="hu-HU" altLang="hu-HU" dirty="0">
                <a:solidFill>
                  <a:schemeClr val="bg1"/>
                </a:solidFill>
                <a:latin typeface="Arial Unicode MS" panose="020B0604020202020204" pitchFamily="34" charset="-128"/>
                <a:ea typeface="Times New Roman" panose="02020603050405020304" pitchFamily="18" charset="0"/>
                <a:cs typeface="Courier New" panose="02070309020205020404" pitchFamily="49" charset="0"/>
              </a:rPr>
              <a:t>       |          |          |          |</a:t>
            </a:r>
            <a:br>
              <a:rPr lang="hu-HU" altLang="hu-HU" dirty="0">
                <a:solidFill>
                  <a:schemeClr val="bg1"/>
                </a:solidFill>
                <a:latin typeface="Arial Unicode MS" panose="020B0604020202020204" pitchFamily="34" charset="-128"/>
                <a:ea typeface="Times New Roman" panose="02020603050405020304" pitchFamily="18" charset="0"/>
                <a:cs typeface="Courier New" panose="02070309020205020404" pitchFamily="49" charset="0"/>
              </a:rPr>
            </a:br>
            <a:r>
              <a:rPr lang="hu-HU" altLang="hu-HU" dirty="0">
                <a:solidFill>
                  <a:schemeClr val="bg1"/>
                </a:solidFill>
                <a:latin typeface="Arial Unicode MS" panose="020B0604020202020204" pitchFamily="34" charset="-128"/>
                <a:ea typeface="Times New Roman" panose="02020603050405020304" pitchFamily="18" charset="0"/>
                <a:cs typeface="Courier New" panose="02070309020205020404" pitchFamily="49" charset="0"/>
              </a:rPr>
              <a:t>    SERVER     WIFI AP    HOME GW    CAMERAS</a:t>
            </a:r>
            <a:r>
              <a:rPr kumimoji="0" lang="hu-HU" altLang="hu-HU" sz="800" b="0" i="0" u="none" strike="noStrike" cap="none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</a:rPr>
              <a:t> </a:t>
            </a:r>
            <a:endParaRPr kumimoji="0" lang="hu-HU" altLang="hu-HU" sz="4000" b="0" i="0" u="none" strike="noStrike" cap="none" normalizeH="0" baseline="0" dirty="0" smtClean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</a:endParaRPr>
          </a:p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99967286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79000"/>
            <a:lum/>
          </a:blip>
          <a:srcRect/>
          <a:stretch>
            <a:fillRect l="-58000" t="-1000" r="-2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hu-HU" b="1" dirty="0" smtClean="0">
                <a:solidFill>
                  <a:schemeClr val="bg1"/>
                </a:solidFill>
                <a:latin typeface="Arial Black" panose="020B0A04020102020204" pitchFamily="34" charset="0"/>
              </a:rPr>
              <a:t/>
            </a:r>
            <a:br>
              <a:rPr lang="hu-HU" b="1" dirty="0" smtClean="0">
                <a:solidFill>
                  <a:schemeClr val="bg1"/>
                </a:solidFill>
                <a:latin typeface="Arial Black" panose="020B0A04020102020204" pitchFamily="34" charset="0"/>
              </a:rPr>
            </a:br>
            <a:r>
              <a:rPr lang="hu-HU" b="1" dirty="0">
                <a:solidFill>
                  <a:schemeClr val="bg1"/>
                </a:solidFill>
                <a:latin typeface="Arial Black" panose="020B0A04020102020204" pitchFamily="34" charset="0"/>
              </a:rPr>
              <a:t/>
            </a:r>
            <a:br>
              <a:rPr lang="hu-HU" b="1" dirty="0">
                <a:solidFill>
                  <a:schemeClr val="bg1"/>
                </a:solidFill>
                <a:latin typeface="Arial Black" panose="020B0A04020102020204" pitchFamily="34" charset="0"/>
              </a:rPr>
            </a:br>
            <a:r>
              <a:rPr lang="hu-HU" b="1" dirty="0" smtClean="0">
                <a:solidFill>
                  <a:schemeClr val="bg1"/>
                </a:solidFill>
                <a:latin typeface="Arial Black" panose="020B0A04020102020204" pitchFamily="34" charset="0"/>
              </a:rPr>
              <a:t/>
            </a:r>
            <a:br>
              <a:rPr lang="hu-HU" b="1" dirty="0" smtClean="0">
                <a:solidFill>
                  <a:schemeClr val="bg1"/>
                </a:solidFill>
                <a:latin typeface="Arial Black" panose="020B0A04020102020204" pitchFamily="34" charset="0"/>
              </a:rPr>
            </a:br>
            <a:r>
              <a:rPr lang="hu-HU" b="1" dirty="0"/>
              <a:t/>
            </a:r>
            <a:br>
              <a:rPr lang="hu-HU" b="1" dirty="0"/>
            </a:br>
            <a:endParaRPr lang="hu-HU" b="1" dirty="0"/>
          </a:p>
        </p:txBody>
      </p:sp>
      <p:sp>
        <p:nvSpPr>
          <p:cNvPr id="4" name="Téglalap 3"/>
          <p:cNvSpPr/>
          <p:nvPr/>
        </p:nvSpPr>
        <p:spPr>
          <a:xfrm>
            <a:off x="2642077" y="372339"/>
            <a:ext cx="6096000" cy="6063198"/>
          </a:xfrm>
          <a:prstGeom prst="rect">
            <a:avLst/>
          </a:prstGeom>
        </p:spPr>
        <p:txBody>
          <a:bodyPr>
            <a:spAutoFit/>
          </a:bodyPr>
          <a:lstStyle/>
          <a:p>
            <a:pPr lvl="0"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hu-HU" altLang="hu-HU" sz="2800" b="0" i="0" u="none" strike="noStrike" cap="none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latin typeface="Arial Black" panose="020B0A040201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Fizikai elrendezés</a:t>
            </a:r>
            <a:endParaRPr kumimoji="0" lang="hu-HU" altLang="hu-HU" sz="4400" b="0" i="0" u="none" strike="noStrike" cap="none" normalizeH="0" baseline="0" dirty="0" smtClean="0">
              <a:ln>
                <a:noFill/>
              </a:ln>
              <a:solidFill>
                <a:schemeClr val="bg1"/>
              </a:solidFill>
              <a:effectLst/>
              <a:latin typeface="Arial Black" panose="020B0A0402010202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hu-HU" altLang="hu-HU" dirty="0">
                <a:solidFill>
                  <a:schemeClr val="bg1"/>
                </a:solidFill>
                <a:latin typeface="Arial Black" panose="020B0A04020102020204" pitchFamily="34" charset="0"/>
                <a:ea typeface="Times New Roman" panose="02020603050405020304" pitchFamily="18" charset="0"/>
                <a:cs typeface="Courier New" panose="02070309020205020404" pitchFamily="49" charset="0"/>
              </a:rPr>
              <a:t/>
            </a:r>
            <a:br>
              <a:rPr lang="hu-HU" altLang="hu-HU" dirty="0">
                <a:solidFill>
                  <a:schemeClr val="bg1"/>
                </a:solidFill>
                <a:latin typeface="Arial Black" panose="020B0A04020102020204" pitchFamily="34" charset="0"/>
                <a:ea typeface="Times New Roman" panose="02020603050405020304" pitchFamily="18" charset="0"/>
                <a:cs typeface="Courier New" panose="02070309020205020404" pitchFamily="49" charset="0"/>
              </a:rPr>
            </a:br>
            <a:r>
              <a:rPr lang="hu-HU" altLang="hu-HU" dirty="0">
                <a:solidFill>
                  <a:schemeClr val="bg1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--------------------KERT-------------------------                         </a:t>
            </a:r>
            <a:br>
              <a:rPr lang="hu-HU" altLang="hu-HU" dirty="0">
                <a:solidFill>
                  <a:schemeClr val="bg1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</a:br>
            <a:r>
              <a:rPr lang="hu-HU" altLang="hu-HU" dirty="0">
                <a:solidFill>
                  <a:schemeClr val="bg1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                                                </a:t>
            </a:r>
            <a:br>
              <a:rPr lang="hu-HU" altLang="hu-HU" dirty="0">
                <a:solidFill>
                  <a:schemeClr val="bg1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</a:br>
            <a:r>
              <a:rPr lang="hu-HU" altLang="hu-HU" dirty="0">
                <a:solidFill>
                  <a:schemeClr val="bg1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  [Camera]      [</a:t>
            </a:r>
            <a:r>
              <a:rPr lang="hu-HU" altLang="hu-HU" dirty="0" err="1">
                <a:solidFill>
                  <a:schemeClr val="bg1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Garden</a:t>
            </a:r>
            <a:r>
              <a:rPr lang="hu-HU" altLang="hu-HU" dirty="0">
                <a:solidFill>
                  <a:schemeClr val="bg1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lang="hu-HU" altLang="hu-HU" dirty="0" err="1">
                <a:solidFill>
                  <a:schemeClr val="bg1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Lights</a:t>
            </a:r>
            <a:r>
              <a:rPr lang="hu-HU" altLang="hu-HU" dirty="0">
                <a:solidFill>
                  <a:schemeClr val="bg1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]     [</a:t>
            </a:r>
            <a:r>
              <a:rPr lang="hu-HU" altLang="hu-HU" dirty="0" err="1">
                <a:solidFill>
                  <a:schemeClr val="bg1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Sprinkler</a:t>
            </a:r>
            <a:r>
              <a:rPr lang="hu-HU" altLang="hu-HU" dirty="0">
                <a:solidFill>
                  <a:schemeClr val="bg1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] </a:t>
            </a:r>
            <a:br>
              <a:rPr lang="hu-HU" altLang="hu-HU" dirty="0">
                <a:solidFill>
                  <a:schemeClr val="bg1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</a:br>
            <a:r>
              <a:rPr lang="hu-HU" altLang="hu-HU" dirty="0">
                <a:solidFill>
                  <a:schemeClr val="bg1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                                                </a:t>
            </a:r>
            <a:br>
              <a:rPr lang="hu-HU" altLang="hu-HU" dirty="0">
                <a:solidFill>
                  <a:schemeClr val="bg1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</a:br>
            <a:r>
              <a:rPr lang="hu-HU" altLang="hu-HU" dirty="0">
                <a:solidFill>
                  <a:schemeClr val="bg1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-------------------GARÁZS------------------------</a:t>
            </a:r>
            <a:br>
              <a:rPr lang="hu-HU" altLang="hu-HU" dirty="0">
                <a:solidFill>
                  <a:schemeClr val="bg1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</a:br>
            <a:r>
              <a:rPr lang="hu-HU" altLang="hu-HU" dirty="0">
                <a:solidFill>
                  <a:schemeClr val="bg1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                                                </a:t>
            </a:r>
            <a:br>
              <a:rPr lang="hu-HU" altLang="hu-HU" dirty="0">
                <a:solidFill>
                  <a:schemeClr val="bg1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</a:br>
            <a:r>
              <a:rPr lang="hu-HU" altLang="hu-HU" dirty="0">
                <a:solidFill>
                  <a:schemeClr val="bg1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[</a:t>
            </a:r>
            <a:r>
              <a:rPr lang="hu-HU" altLang="hu-HU" dirty="0" err="1">
                <a:solidFill>
                  <a:schemeClr val="bg1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Garage</a:t>
            </a:r>
            <a:r>
              <a:rPr lang="hu-HU" altLang="hu-HU" dirty="0">
                <a:solidFill>
                  <a:schemeClr val="bg1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lang="hu-HU" altLang="hu-HU" dirty="0" err="1">
                <a:solidFill>
                  <a:schemeClr val="bg1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Door</a:t>
            </a:r>
            <a:r>
              <a:rPr lang="hu-HU" altLang="hu-HU" dirty="0">
                <a:solidFill>
                  <a:schemeClr val="bg1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]         [EV </a:t>
            </a:r>
            <a:r>
              <a:rPr lang="hu-HU" altLang="hu-HU" dirty="0" err="1">
                <a:solidFill>
                  <a:schemeClr val="bg1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Charger</a:t>
            </a:r>
            <a:r>
              <a:rPr lang="hu-HU" altLang="hu-HU" dirty="0">
                <a:solidFill>
                  <a:schemeClr val="bg1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]              </a:t>
            </a:r>
            <a:br>
              <a:rPr lang="hu-HU" altLang="hu-HU" dirty="0">
                <a:solidFill>
                  <a:schemeClr val="bg1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</a:br>
            <a:r>
              <a:rPr lang="hu-HU" altLang="hu-HU" dirty="0">
                <a:solidFill>
                  <a:schemeClr val="bg1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                                                </a:t>
            </a:r>
            <a:br>
              <a:rPr lang="hu-HU" altLang="hu-HU" dirty="0">
                <a:solidFill>
                  <a:schemeClr val="bg1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</a:br>
            <a:r>
              <a:rPr lang="hu-HU" altLang="hu-HU" dirty="0" smtClean="0">
                <a:solidFill>
                  <a:schemeClr val="bg1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----------------------</a:t>
            </a:r>
            <a:r>
              <a:rPr lang="hu-HU" altLang="hu-HU" dirty="0">
                <a:solidFill>
                  <a:schemeClr val="bg1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HÁZ-</a:t>
            </a:r>
            <a:r>
              <a:rPr lang="hu-HU" altLang="hu-HU" dirty="0" smtClean="0">
                <a:solidFill>
                  <a:schemeClr val="bg1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---------------------------</a:t>
            </a:r>
            <a:r>
              <a:rPr lang="hu-HU" altLang="hu-HU" dirty="0">
                <a:solidFill>
                  <a:schemeClr val="bg1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/>
            </a:r>
            <a:br>
              <a:rPr lang="hu-HU" altLang="hu-HU" dirty="0">
                <a:solidFill>
                  <a:schemeClr val="bg1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</a:br>
            <a:r>
              <a:rPr lang="hu-HU" altLang="hu-HU" dirty="0">
                <a:solidFill>
                  <a:schemeClr val="bg1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                                                </a:t>
            </a:r>
            <a:br>
              <a:rPr lang="hu-HU" altLang="hu-HU" dirty="0">
                <a:solidFill>
                  <a:schemeClr val="bg1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</a:br>
            <a:r>
              <a:rPr lang="hu-HU" altLang="hu-HU" dirty="0">
                <a:solidFill>
                  <a:schemeClr val="bg1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NAPPALI        KONYHA         HÁLÓ              </a:t>
            </a:r>
            <a:br>
              <a:rPr lang="hu-HU" altLang="hu-HU" dirty="0">
                <a:solidFill>
                  <a:schemeClr val="bg1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</a:br>
            <a:r>
              <a:rPr lang="hu-HU" altLang="hu-HU" dirty="0">
                <a:solidFill>
                  <a:schemeClr val="bg1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lang="hu-HU" altLang="hu-HU" dirty="0" err="1">
                <a:solidFill>
                  <a:schemeClr val="bg1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Smart</a:t>
            </a:r>
            <a:r>
              <a:rPr lang="hu-HU" altLang="hu-HU" dirty="0">
                <a:solidFill>
                  <a:schemeClr val="bg1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TV       </a:t>
            </a:r>
            <a:r>
              <a:rPr lang="hu-HU" altLang="hu-HU" dirty="0" err="1">
                <a:solidFill>
                  <a:schemeClr val="bg1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Sensors</a:t>
            </a:r>
            <a:r>
              <a:rPr lang="hu-HU" altLang="hu-HU" dirty="0">
                <a:solidFill>
                  <a:schemeClr val="bg1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       </a:t>
            </a:r>
            <a:r>
              <a:rPr lang="hu-HU" altLang="hu-HU" dirty="0" err="1">
                <a:solidFill>
                  <a:schemeClr val="bg1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Thermostat</a:t>
            </a:r>
            <a:r>
              <a:rPr lang="hu-HU" altLang="hu-HU" dirty="0">
                <a:solidFill>
                  <a:schemeClr val="bg1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       </a:t>
            </a:r>
            <a:br>
              <a:rPr lang="hu-HU" altLang="hu-HU" dirty="0">
                <a:solidFill>
                  <a:schemeClr val="bg1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</a:br>
            <a:r>
              <a:rPr lang="hu-HU" altLang="hu-HU" dirty="0">
                <a:solidFill>
                  <a:schemeClr val="bg1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lang="hu-HU" altLang="hu-HU" dirty="0" smtClean="0">
                <a:solidFill>
                  <a:schemeClr val="bg1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    </a:t>
            </a:r>
            <a:r>
              <a:rPr lang="hu-HU" altLang="hu-HU" dirty="0" err="1" smtClean="0">
                <a:solidFill>
                  <a:schemeClr val="bg1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Lights</a:t>
            </a:r>
            <a:r>
              <a:rPr lang="hu-HU" altLang="hu-HU" dirty="0" smtClean="0">
                <a:solidFill>
                  <a:schemeClr val="bg1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           </a:t>
            </a:r>
            <a:r>
              <a:rPr lang="hu-HU" altLang="hu-HU" dirty="0" err="1" smtClean="0">
                <a:solidFill>
                  <a:schemeClr val="bg1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Smart</a:t>
            </a:r>
            <a:r>
              <a:rPr lang="hu-HU" altLang="hu-HU" dirty="0" smtClean="0">
                <a:solidFill>
                  <a:schemeClr val="bg1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lang="hu-HU" altLang="hu-HU" dirty="0" err="1">
                <a:solidFill>
                  <a:schemeClr val="bg1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Door</a:t>
            </a:r>
            <a:r>
              <a:rPr lang="hu-HU" altLang="hu-HU" dirty="0">
                <a:solidFill>
                  <a:schemeClr val="bg1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 </a:t>
            </a:r>
            <a:r>
              <a:rPr lang="hu-HU" altLang="hu-HU" dirty="0" smtClean="0">
                <a:solidFill>
                  <a:schemeClr val="bg1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lang="hu-HU" altLang="hu-HU" dirty="0" err="1" smtClean="0">
                <a:solidFill>
                  <a:schemeClr val="bg1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Smart</a:t>
            </a:r>
            <a:r>
              <a:rPr lang="hu-HU" altLang="hu-HU" dirty="0" smtClean="0">
                <a:solidFill>
                  <a:schemeClr val="bg1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lang="hu-HU" altLang="hu-HU" dirty="0" err="1">
                <a:solidFill>
                  <a:schemeClr val="bg1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Window</a:t>
            </a:r>
            <a:r>
              <a:rPr lang="hu-HU" altLang="hu-HU" dirty="0">
                <a:solidFill>
                  <a:schemeClr val="bg1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     </a:t>
            </a:r>
            <a:br>
              <a:rPr lang="hu-HU" altLang="hu-HU" dirty="0">
                <a:solidFill>
                  <a:schemeClr val="bg1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</a:br>
            <a:r>
              <a:rPr lang="hu-HU" altLang="hu-HU" dirty="0">
                <a:solidFill>
                  <a:schemeClr val="bg1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lang="hu-HU" altLang="hu-HU" dirty="0" smtClean="0">
                <a:solidFill>
                  <a:schemeClr val="bg1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    </a:t>
            </a:r>
            <a:r>
              <a:rPr lang="hu-HU" altLang="hu-HU" dirty="0" err="1" smtClean="0">
                <a:solidFill>
                  <a:schemeClr val="bg1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Motion</a:t>
            </a:r>
            <a:r>
              <a:rPr lang="hu-HU" altLang="hu-HU" dirty="0" smtClean="0">
                <a:solidFill>
                  <a:schemeClr val="bg1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lang="hu-HU" altLang="hu-HU" dirty="0">
                <a:solidFill>
                  <a:schemeClr val="bg1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szenzor   </a:t>
            </a:r>
            <a:endParaRPr lang="hu-HU" altLang="hu-HU" dirty="0" smtClean="0">
              <a:solidFill>
                <a:schemeClr val="bg1"/>
              </a:solidFill>
              <a:latin typeface="Arial Unicode MS" panose="020B0604020202020204" pitchFamily="34" charset="-128"/>
              <a:ea typeface="Arial Unicode MS" panose="020B0604020202020204" pitchFamily="34" charset="-128"/>
              <a:cs typeface="Arial Unicode MS" panose="020B0604020202020204" pitchFamily="34" charset="-128"/>
            </a:endParaRPr>
          </a:p>
          <a:p>
            <a:pPr lvl="0"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hu-HU" altLang="hu-HU" dirty="0" smtClean="0">
                <a:solidFill>
                  <a:schemeClr val="bg1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                              </a:t>
            </a:r>
            <a:r>
              <a:rPr lang="hu-HU" altLang="hu-HU" dirty="0">
                <a:solidFill>
                  <a:schemeClr val="bg1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/>
            </a:r>
            <a:br>
              <a:rPr lang="hu-HU" altLang="hu-HU" dirty="0">
                <a:solidFill>
                  <a:schemeClr val="bg1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</a:br>
            <a:r>
              <a:rPr lang="hu-HU" altLang="hu-HU" dirty="0">
                <a:solidFill>
                  <a:schemeClr val="bg1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-----------------SERVER ROOM-</a:t>
            </a:r>
            <a:r>
              <a:rPr lang="hu-HU" altLang="hu-HU" dirty="0" smtClean="0">
                <a:solidFill>
                  <a:schemeClr val="bg1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--------------------</a:t>
            </a:r>
          </a:p>
          <a:p>
            <a:pPr lvl="0"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hu-HU" altLang="hu-HU" dirty="0">
                <a:solidFill>
                  <a:schemeClr val="bg1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/>
            </a:r>
            <a:br>
              <a:rPr lang="hu-HU" altLang="hu-HU" dirty="0">
                <a:solidFill>
                  <a:schemeClr val="bg1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</a:br>
            <a:r>
              <a:rPr lang="hu-HU" altLang="hu-HU" dirty="0">
                <a:solidFill>
                  <a:schemeClr val="bg1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lang="hu-HU" altLang="hu-HU" dirty="0" err="1">
                <a:solidFill>
                  <a:schemeClr val="bg1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Router</a:t>
            </a:r>
            <a:r>
              <a:rPr lang="hu-HU" altLang="hu-HU" dirty="0">
                <a:solidFill>
                  <a:schemeClr val="bg1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    </a:t>
            </a:r>
            <a:r>
              <a:rPr lang="hu-HU" altLang="hu-HU" dirty="0" err="1">
                <a:solidFill>
                  <a:schemeClr val="bg1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Switch</a:t>
            </a:r>
            <a:r>
              <a:rPr lang="hu-HU" altLang="hu-HU" dirty="0">
                <a:solidFill>
                  <a:schemeClr val="bg1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    NAS     UPS               </a:t>
            </a:r>
            <a:r>
              <a:rPr lang="hu-HU" altLang="hu-HU" dirty="0">
                <a:solidFill>
                  <a:srgbClr val="000000"/>
                </a:solidFill>
                <a:latin typeface="Arial Unicode MS" panose="020B0604020202020204" pitchFamily="34" charset="-128"/>
                <a:ea typeface="Times New Roman" panose="02020603050405020304" pitchFamily="18" charset="0"/>
                <a:cs typeface="Courier New" panose="02070309020205020404" pitchFamily="49" charset="0"/>
              </a:rPr>
              <a:t/>
            </a:r>
            <a:br>
              <a:rPr lang="hu-HU" altLang="hu-HU" dirty="0">
                <a:solidFill>
                  <a:srgbClr val="000000"/>
                </a:solidFill>
                <a:latin typeface="Arial Unicode MS" panose="020B0604020202020204" pitchFamily="34" charset="-128"/>
                <a:ea typeface="Times New Roman" panose="02020603050405020304" pitchFamily="18" charset="0"/>
                <a:cs typeface="Courier New" panose="02070309020205020404" pitchFamily="49" charset="0"/>
              </a:rPr>
            </a:br>
            <a:r>
              <a:rPr lang="hu-HU" altLang="hu-HU" dirty="0">
                <a:solidFill>
                  <a:srgbClr val="000000"/>
                </a:solidFill>
                <a:latin typeface="Arial Unicode MS" panose="020B0604020202020204" pitchFamily="34" charset="-128"/>
                <a:ea typeface="Times New Roman" panose="02020603050405020304" pitchFamily="18" charset="0"/>
                <a:cs typeface="Courier New" panose="02070309020205020404" pitchFamily="49" charset="0"/>
              </a:rPr>
              <a:t> </a:t>
            </a:r>
            <a:endParaRPr kumimoji="0" lang="hu-HU" altLang="hu-HU" sz="40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471536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79000"/>
            <a:lum/>
          </a:blip>
          <a:srcRect/>
          <a:stretch>
            <a:fillRect l="-58000" t="-1000" r="-2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Kép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435" y="1389667"/>
            <a:ext cx="11748407" cy="5237993"/>
          </a:xfrm>
          <a:prstGeom prst="rect">
            <a:avLst/>
          </a:prstGeom>
        </p:spPr>
      </p:pic>
      <p:sp>
        <p:nvSpPr>
          <p:cNvPr id="6" name="Szövegdoboz 5"/>
          <p:cNvSpPr txBox="1"/>
          <p:nvPr/>
        </p:nvSpPr>
        <p:spPr>
          <a:xfrm>
            <a:off x="2196192" y="351065"/>
            <a:ext cx="728411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4000" dirty="0" err="1" smtClean="0">
                <a:solidFill>
                  <a:schemeClr val="bg1"/>
                </a:solidFill>
                <a:latin typeface="Arial Black" panose="020B0A04020102020204" pitchFamily="34" charset="0"/>
              </a:rPr>
              <a:t>Packet</a:t>
            </a:r>
            <a:r>
              <a:rPr lang="hu-HU" sz="4000" dirty="0" smtClean="0">
                <a:solidFill>
                  <a:schemeClr val="bg1"/>
                </a:solidFill>
                <a:latin typeface="Arial Black" panose="020B0A04020102020204" pitchFamily="34" charset="0"/>
              </a:rPr>
              <a:t> </a:t>
            </a:r>
            <a:r>
              <a:rPr lang="hu-HU" sz="4000" dirty="0" err="1" smtClean="0">
                <a:solidFill>
                  <a:schemeClr val="bg1"/>
                </a:solidFill>
                <a:latin typeface="Arial Black" panose="020B0A04020102020204" pitchFamily="34" charset="0"/>
              </a:rPr>
              <a:t>Tracer</a:t>
            </a:r>
            <a:r>
              <a:rPr lang="hu-HU" sz="4000" dirty="0" smtClean="0">
                <a:solidFill>
                  <a:schemeClr val="bg1"/>
                </a:solidFill>
                <a:latin typeface="Arial Black" panose="020B0A04020102020204" pitchFamily="34" charset="0"/>
              </a:rPr>
              <a:t> szimuláció</a:t>
            </a:r>
            <a:endParaRPr lang="hu-HU" sz="4000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190202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79000"/>
            <a:lum/>
          </a:blip>
          <a:srcRect/>
          <a:stretch>
            <a:fillRect l="-58000" t="-1000" r="-2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hu-HU" b="1" dirty="0" smtClean="0">
                <a:solidFill>
                  <a:schemeClr val="bg1"/>
                </a:solidFill>
                <a:latin typeface="Arial Black" panose="020B0A04020102020204" pitchFamily="34" charset="0"/>
              </a:rPr>
              <a:t/>
            </a:r>
            <a:br>
              <a:rPr lang="hu-HU" b="1" dirty="0" smtClean="0">
                <a:solidFill>
                  <a:schemeClr val="bg1"/>
                </a:solidFill>
                <a:latin typeface="Arial Black" panose="020B0A04020102020204" pitchFamily="34" charset="0"/>
              </a:rPr>
            </a:br>
            <a:r>
              <a:rPr lang="hu-HU" b="1" dirty="0">
                <a:solidFill>
                  <a:schemeClr val="bg1"/>
                </a:solidFill>
                <a:latin typeface="Arial Black" panose="020B0A04020102020204" pitchFamily="34" charset="0"/>
              </a:rPr>
              <a:t/>
            </a:r>
            <a:br>
              <a:rPr lang="hu-HU" b="1" dirty="0">
                <a:solidFill>
                  <a:schemeClr val="bg1"/>
                </a:solidFill>
                <a:latin typeface="Arial Black" panose="020B0A04020102020204" pitchFamily="34" charset="0"/>
              </a:rPr>
            </a:br>
            <a:r>
              <a:rPr lang="hu-HU" b="1" dirty="0" smtClean="0">
                <a:solidFill>
                  <a:schemeClr val="bg1"/>
                </a:solidFill>
                <a:latin typeface="Arial Black" panose="020B0A04020102020204" pitchFamily="34" charset="0"/>
              </a:rPr>
              <a:t/>
            </a:r>
            <a:br>
              <a:rPr lang="hu-HU" b="1" dirty="0" smtClean="0">
                <a:solidFill>
                  <a:schemeClr val="bg1"/>
                </a:solidFill>
                <a:latin typeface="Arial Black" panose="020B0A04020102020204" pitchFamily="34" charset="0"/>
              </a:rPr>
            </a:br>
            <a:r>
              <a:rPr lang="hu-HU" b="1" dirty="0"/>
              <a:t/>
            </a:r>
            <a:br>
              <a:rPr lang="hu-HU" b="1" dirty="0"/>
            </a:br>
            <a:endParaRPr lang="hu-HU" b="1" dirty="0"/>
          </a:p>
        </p:txBody>
      </p:sp>
      <p:sp>
        <p:nvSpPr>
          <p:cNvPr id="3" name="Szövegdoboz 2"/>
          <p:cNvSpPr txBox="1"/>
          <p:nvPr/>
        </p:nvSpPr>
        <p:spPr>
          <a:xfrm>
            <a:off x="2951196" y="2413545"/>
            <a:ext cx="654371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4000" dirty="0" smtClean="0">
                <a:solidFill>
                  <a:schemeClr val="bg1"/>
                </a:solidFill>
                <a:latin typeface="Arial Black" panose="020B0A04020102020204" pitchFamily="34" charset="0"/>
              </a:rPr>
              <a:t>Köszönöm a figyelmet!</a:t>
            </a:r>
            <a:endParaRPr lang="hu-HU" sz="4000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334149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</TotalTime>
  <Words>116</Words>
  <Application>Microsoft Office PowerPoint</Application>
  <PresentationFormat>Szélesvásznú</PresentationFormat>
  <Paragraphs>34</Paragraphs>
  <Slides>6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7</vt:i4>
      </vt:variant>
      <vt:variant>
        <vt:lpstr>Téma</vt:lpstr>
      </vt:variant>
      <vt:variant>
        <vt:i4>1</vt:i4>
      </vt:variant>
      <vt:variant>
        <vt:lpstr>Diacímek</vt:lpstr>
      </vt:variant>
      <vt:variant>
        <vt:i4>6</vt:i4>
      </vt:variant>
    </vt:vector>
  </HeadingPairs>
  <TitlesOfParts>
    <vt:vector size="14" baseType="lpstr">
      <vt:lpstr>Arial Unicode MS</vt:lpstr>
      <vt:lpstr>Arial</vt:lpstr>
      <vt:lpstr>Arial Black</vt:lpstr>
      <vt:lpstr>Calibri</vt:lpstr>
      <vt:lpstr>Calibri Light</vt:lpstr>
      <vt:lpstr>Courier New</vt:lpstr>
      <vt:lpstr>Times New Roman</vt:lpstr>
      <vt:lpstr>Office-téma</vt:lpstr>
      <vt:lpstr>    Okosotthon kiépítése    paket tracer szimulációval</vt:lpstr>
      <vt:lpstr>    </vt:lpstr>
      <vt:lpstr>    </vt:lpstr>
      <vt:lpstr>    </vt:lpstr>
      <vt:lpstr>PowerPoint bemutató</vt:lpstr>
      <vt:lpstr>    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Okosotthon kiépítése    paket tracer szimulációval</dc:title>
  <dc:creator>Mezei Lajos</dc:creator>
  <cp:lastModifiedBy>Lenovo T14</cp:lastModifiedBy>
  <cp:revision>6</cp:revision>
  <dcterms:created xsi:type="dcterms:W3CDTF">2026-09-07T05:45:55Z</dcterms:created>
  <dcterms:modified xsi:type="dcterms:W3CDTF">2026-09-07T08:37:37Z</dcterms:modified>
</cp:coreProperties>
</file>